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22" r:id="rId2"/>
    <p:sldId id="320" r:id="rId3"/>
    <p:sldId id="283" r:id="rId4"/>
    <p:sldId id="284" r:id="rId5"/>
    <p:sldId id="286" r:id="rId6"/>
    <p:sldId id="287" r:id="rId7"/>
    <p:sldId id="288" r:id="rId8"/>
    <p:sldId id="321" r:id="rId9"/>
    <p:sldId id="290" r:id="rId10"/>
    <p:sldId id="291" r:id="rId11"/>
    <p:sldId id="292" r:id="rId12"/>
    <p:sldId id="293" r:id="rId13"/>
    <p:sldId id="294" r:id="rId14"/>
    <p:sldId id="29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660033"/>
    <a:srgbClr val="CCECFF"/>
    <a:srgbClr val="FFFF66"/>
    <a:srgbClr val="CCFFFF"/>
    <a:srgbClr val="993300"/>
    <a:srgbClr val="FF9999"/>
    <a:srgbClr val="666633"/>
    <a:srgbClr val="FFCC0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7E949-6193-4827-9A1F-6BEAB63AD439}" v="115" dt="2026-04-10T03:42:26.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82" d="100"/>
          <a:sy n="82" d="100"/>
        </p:scale>
        <p:origin x="87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pPr/>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pPr/>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The algorithms powering these tools are trained on vast amounts of existing source code, typically from publicly available open-source projects. Based on these examples, the algorithms can generate custom code on demand, via text prompts.</a:t>
            </a:r>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AI-assisted coding uses artificial intelligence and advanced machine learning to help generate code automatically</a:t>
            </a:r>
          </a:p>
          <a:p>
            <a:r>
              <a:rPr lang="en-US" dirty="0"/>
              <a:t>These tools allow developers to describe in English or other native language what they want their code to do and then have the tool generate the code to accomplish that task. </a:t>
            </a:r>
          </a:p>
          <a:p>
            <a:r>
              <a:rPr lang="en-US" dirty="0"/>
              <a:t>This includes the creation of common elements such as custom variable names and the calling of external modules or services.</a:t>
            </a:r>
          </a:p>
          <a:p>
            <a:r>
              <a:rPr lang="en-US" dirty="0"/>
              <a:t>AI code tools can also translate code from one language to another</a:t>
            </a:r>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Artificial Intelligence (AI) is revolutionizing the way software is developed. </a:t>
            </a:r>
            <a:r>
              <a:rPr lang="en-US" b="1" dirty="0"/>
              <a:t>AI-Assisted Coding</a:t>
            </a:r>
            <a:r>
              <a:rPr lang="en-US" dirty="0"/>
              <a:t> is the integration of intelligent tools and models into the software development lifecycle to improve code quality, enhance productivity, and reduce development time. From code completion and bug detection to automated documentation and test generation, AI tools are becoming indispensable assets for developers.</a:t>
            </a:r>
          </a:p>
          <a:p>
            <a:r>
              <a:rPr lang="en-US" dirty="0"/>
              <a:t>This course aims to introduce learners to the evolving landscape of AI in coding, explore various tools and platforms, and understand both the potential and boundaries of this technological shift.</a:t>
            </a:r>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AI-assisted coding uses artificial intelligence and advanced machine learning to help generate code automatically</a:t>
            </a:r>
          </a:p>
          <a:p>
            <a:endParaRPr lang="en-US" dirty="0"/>
          </a:p>
          <a:p>
            <a:r>
              <a:rPr lang="en-US" b="1" dirty="0"/>
              <a:t>The algorithms powering these AI Assisted Coding tools are trained on vast amounts of existing source code typically from publicly available open-source projects.</a:t>
            </a:r>
          </a:p>
          <a:p>
            <a:endParaRPr lang="en-US" dirty="0"/>
          </a:p>
          <a:p>
            <a:r>
              <a:rPr lang="en-US" b="1" dirty="0"/>
              <a:t>AI Assisted Coding tools generate the code based on text prompts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1" dirty="0"/>
              <a:t>AI-Assisted Coding Tasks</a:t>
            </a:r>
          </a:p>
          <a:p>
            <a:r>
              <a:rPr lang="en-US" b="1" dirty="0"/>
              <a:t>Code Completion</a:t>
            </a:r>
            <a:endParaRPr lang="en-US" dirty="0"/>
          </a:p>
          <a:p>
            <a:pPr lvl="1"/>
            <a:r>
              <a:rPr lang="en-US" dirty="0"/>
              <a:t>Predicts and suggests the next line or block of code as you type.</a:t>
            </a:r>
          </a:p>
          <a:p>
            <a:pPr lvl="1"/>
            <a:r>
              <a:rPr lang="en-US" dirty="0"/>
              <a:t>Helps speed up development and reduce syntax errors.</a:t>
            </a:r>
          </a:p>
          <a:p>
            <a:r>
              <a:rPr lang="en-US" b="1" dirty="0"/>
              <a:t>Code Generation</a:t>
            </a:r>
            <a:endParaRPr lang="en-US" dirty="0"/>
          </a:p>
          <a:p>
            <a:pPr lvl="1"/>
            <a:r>
              <a:rPr lang="en-US" dirty="0"/>
              <a:t>Generates code from natural language descriptions or comments.</a:t>
            </a:r>
          </a:p>
          <a:p>
            <a:pPr lvl="1"/>
            <a:r>
              <a:rPr lang="en-US" dirty="0"/>
              <a:t>Converts high-level requirements into functioning code snippets.</a:t>
            </a:r>
          </a:p>
          <a:p>
            <a:r>
              <a:rPr lang="en-US" b="1" dirty="0"/>
              <a:t>Code Translation</a:t>
            </a:r>
            <a:endParaRPr lang="en-US" dirty="0"/>
          </a:p>
          <a:p>
            <a:pPr lvl="1"/>
            <a:r>
              <a:rPr lang="en-US" dirty="0"/>
              <a:t>Converts code from one programming language to another.</a:t>
            </a:r>
          </a:p>
          <a:p>
            <a:pPr lvl="1"/>
            <a:r>
              <a:rPr lang="en-US" dirty="0"/>
              <a:t>Useful for migrating projects or learning new languages.</a:t>
            </a:r>
          </a:p>
          <a:p>
            <a:r>
              <a:rPr lang="en-US" b="1" dirty="0"/>
              <a:t>Bug Detection and Fixing</a:t>
            </a:r>
            <a:endParaRPr lang="en-US" dirty="0"/>
          </a:p>
          <a:p>
            <a:pPr lvl="1"/>
            <a:r>
              <a:rPr lang="en-US" dirty="0"/>
              <a:t>Identifies potential bugs or errors in code.</a:t>
            </a:r>
          </a:p>
          <a:p>
            <a:pPr lvl="1"/>
            <a:r>
              <a:rPr lang="en-US" dirty="0"/>
              <a:t>Suggests fixes or automatically corrects them.</a:t>
            </a:r>
          </a:p>
          <a:p>
            <a:r>
              <a:rPr lang="en-US" b="1" dirty="0"/>
              <a:t>Code Refactoring</a:t>
            </a:r>
            <a:endParaRPr lang="en-US" dirty="0"/>
          </a:p>
          <a:p>
            <a:pPr lvl="1"/>
            <a:r>
              <a:rPr lang="en-US" dirty="0"/>
              <a:t>Improves code structure without changing its behavior.</a:t>
            </a:r>
          </a:p>
          <a:p>
            <a:pPr lvl="1"/>
            <a:r>
              <a:rPr lang="en-US" dirty="0"/>
              <a:t>Enhances readability, performance, and maintainability.</a:t>
            </a:r>
          </a:p>
          <a:p>
            <a:r>
              <a:rPr lang="en-US" b="1" dirty="0"/>
              <a:t>Test Case Generation</a:t>
            </a:r>
            <a:endParaRPr lang="en-US" dirty="0"/>
          </a:p>
          <a:p>
            <a:pPr lvl="1"/>
            <a:r>
              <a:rPr lang="en-US" dirty="0"/>
              <a:t>Automatically creates unit and integration tests for given functions or classes.</a:t>
            </a:r>
          </a:p>
          <a:p>
            <a:pPr lvl="1"/>
            <a:r>
              <a:rPr lang="en-US" dirty="0"/>
              <a:t>Ensures better test coverage and reliability.</a:t>
            </a:r>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Code Documentation</a:t>
            </a:r>
            <a:endParaRPr lang="en-US" dirty="0"/>
          </a:p>
          <a:p>
            <a:pPr lvl="1"/>
            <a:r>
              <a:rPr lang="en-US" dirty="0"/>
              <a:t>Generates comments and documentation from the code.</a:t>
            </a:r>
          </a:p>
          <a:p>
            <a:pPr lvl="1"/>
            <a:r>
              <a:rPr lang="en-US" dirty="0"/>
              <a:t>Saves time and improves understanding for others reading the code.</a:t>
            </a:r>
          </a:p>
          <a:p>
            <a:r>
              <a:rPr lang="en-US" b="1" dirty="0"/>
              <a:t>Code Summarization</a:t>
            </a:r>
            <a:endParaRPr lang="en-US" dirty="0"/>
          </a:p>
          <a:p>
            <a:pPr lvl="1"/>
            <a:r>
              <a:rPr lang="en-US" dirty="0"/>
              <a:t>Provides a high-level summary or explanation of a code block.</a:t>
            </a:r>
          </a:p>
          <a:p>
            <a:pPr lvl="1"/>
            <a:r>
              <a:rPr lang="en-US" dirty="0"/>
              <a:t>Useful for learning or reviewing unfamiliar codebases.</a:t>
            </a:r>
          </a:p>
          <a:p>
            <a:r>
              <a:rPr lang="en-US" b="1" dirty="0"/>
              <a:t>Syntax and Style Correction</a:t>
            </a:r>
            <a:endParaRPr lang="en-US" dirty="0"/>
          </a:p>
          <a:p>
            <a:pPr lvl="1"/>
            <a:r>
              <a:rPr lang="en-US" dirty="0"/>
              <a:t>Enforces coding standards and formatting rules.</a:t>
            </a:r>
          </a:p>
          <a:p>
            <a:pPr lvl="1"/>
            <a:r>
              <a:rPr lang="en-US" dirty="0"/>
              <a:t>Corrects indentation, naming conventions, and style violations.</a:t>
            </a:r>
          </a:p>
          <a:p>
            <a:r>
              <a:rPr lang="en-US" b="1" dirty="0"/>
              <a:t>Natural Language Query to Code Search</a:t>
            </a:r>
            <a:endParaRPr lang="en-US" dirty="0"/>
          </a:p>
          <a:p>
            <a:pPr lvl="1"/>
            <a:r>
              <a:rPr lang="en-US" dirty="0"/>
              <a:t>Finds relevant code snippets or functions based on plain language queries.</a:t>
            </a:r>
          </a:p>
          <a:p>
            <a:pPr lvl="1"/>
            <a:r>
              <a:rPr lang="en-US" dirty="0"/>
              <a:t>Helps developers quickly locate needed components.</a:t>
            </a:r>
          </a:p>
          <a:p>
            <a:r>
              <a:rPr lang="en-US" b="1" dirty="0"/>
              <a:t>API Usage Suggestions</a:t>
            </a:r>
            <a:endParaRPr lang="en-US" dirty="0"/>
          </a:p>
          <a:p>
            <a:pPr lvl="1"/>
            <a:r>
              <a:rPr lang="en-US" dirty="0"/>
              <a:t>Recommends correct and efficient ways to use APIs or libraries.</a:t>
            </a:r>
          </a:p>
          <a:p>
            <a:pPr lvl="1"/>
            <a:r>
              <a:rPr lang="en-US" dirty="0"/>
              <a:t>Reduces the need to constantly refer to documentation.</a:t>
            </a:r>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dirty="0"/>
              <a:t>Code completion tools</a:t>
            </a:r>
          </a:p>
          <a:p>
            <a:pPr rtl="0"/>
            <a:r>
              <a:rPr lang="en-US" dirty="0"/>
              <a:t>Debugging tools</a:t>
            </a:r>
          </a:p>
          <a:p>
            <a:pPr rtl="0"/>
            <a:r>
              <a:rPr lang="en-US" dirty="0"/>
              <a:t>Security tools</a:t>
            </a:r>
          </a:p>
          <a:p>
            <a:pPr rtl="0"/>
            <a:r>
              <a:rPr lang="en-US" dirty="0"/>
              <a:t>Testing Tools</a:t>
            </a:r>
          </a:p>
          <a:p>
            <a:pPr rtl="0"/>
            <a:r>
              <a:rPr lang="en-US" dirty="0"/>
              <a:t>Code Review tools</a:t>
            </a:r>
          </a:p>
          <a:p>
            <a:pPr rtl="0"/>
            <a:r>
              <a:rPr lang="en-US" dirty="0"/>
              <a:t>Code Generation tools</a:t>
            </a:r>
          </a:p>
          <a:p>
            <a:pPr rtl="0"/>
            <a:r>
              <a:rPr lang="en-US" dirty="0"/>
              <a:t>Optimization tools</a:t>
            </a:r>
          </a:p>
          <a:p>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b="1" dirty="0"/>
              <a:t>Code completion tools leverage AI to predict and suggest the next line or block of code a developer is likely to write based on the current context of the code being written. They analyze the syntax and semantics of the written code to provide relevant and accurate suggestions, minimizing the likelihood of errors and enhancing coding efficiency.</a:t>
            </a:r>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b="1" dirty="0"/>
              <a:t>AI-powered debugging tools utilize advanced algorithms to detect and correct errors in the code automatically. They streamline the debugging process by identifying the root causes of issues and suggesting appropriate fixes, reducing the time and effort developers need to spend on debugging.</a:t>
            </a:r>
            <a:endParaRPr lang="en-US" dirty="0"/>
          </a:p>
          <a:p>
            <a:pPr rtl="0"/>
            <a:r>
              <a:rPr lang="en-US" b="1" dirty="0" err="1"/>
              <a:t>Rookout</a:t>
            </a:r>
            <a:r>
              <a:rPr lang="en-US" b="1" dirty="0"/>
              <a:t>: This tool allows developers to set non-breaking breakpoints and fetch the needed data without stopping the code or adding extra code lines, leveraging AI to streamline the debugging process.</a:t>
            </a:r>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Increased Productivity</a:t>
            </a:r>
            <a:r>
              <a:rPr lang="en-US" dirty="0"/>
              <a:t> in AI-assisted coding means that developers can complete tasks more quickly and efficiently by leveraging AI tools. This includes:</a:t>
            </a:r>
            <a:endParaRPr lang="en-US" b="0" dirty="0"/>
          </a:p>
          <a:p>
            <a:r>
              <a:rPr lang="en-US" b="0" dirty="0"/>
              <a:t>Faster code writing through intelligent </a:t>
            </a:r>
            <a:r>
              <a:rPr lang="en-US" b="0" dirty="0" err="1"/>
              <a:t>autocompletion</a:t>
            </a:r>
            <a:endParaRPr lang="en-US" b="0" dirty="0"/>
          </a:p>
          <a:p>
            <a:r>
              <a:rPr lang="en-US" b="0" dirty="0"/>
              <a:t>Reduced time spent on debugging and error fixing</a:t>
            </a:r>
          </a:p>
          <a:p>
            <a:r>
              <a:rPr lang="en-US" b="0" dirty="0"/>
              <a:t>Quick generation of repetitive or boilerplate code</a:t>
            </a:r>
          </a:p>
          <a:p>
            <a:r>
              <a:rPr lang="en-US" b="0" dirty="0"/>
              <a:t>Automated documentation and testing</a:t>
            </a:r>
          </a:p>
          <a:p>
            <a:r>
              <a:rPr lang="en-US" b="0" dirty="0"/>
              <a:t>Fewer context switches (less need to search for syntax or examples)</a:t>
            </a:r>
          </a:p>
          <a:p>
            <a:r>
              <a:rPr lang="en-US" b="0" dirty="0"/>
              <a:t>Improved focus on logic and design instead of syntax</a:t>
            </a:r>
          </a:p>
          <a:p>
            <a:pPr rtl="0"/>
            <a:endParaRPr lang="en-US" b="1" dirty="0"/>
          </a:p>
          <a:p>
            <a:pPr rtl="0"/>
            <a:r>
              <a:rPr lang="en-US" b="1" dirty="0"/>
              <a:t>Faster Code Development</a:t>
            </a:r>
            <a:endParaRPr lang="en-US" dirty="0"/>
          </a:p>
          <a:p>
            <a:pPr rtl="0"/>
            <a:r>
              <a:rPr lang="en-US" b="1" dirty="0"/>
              <a:t>Improved Code Quality</a:t>
            </a:r>
            <a:endParaRPr lang="en-US" dirty="0"/>
          </a:p>
          <a:p>
            <a:pPr rtl="0"/>
            <a:r>
              <a:rPr lang="en-US" b="1" dirty="0"/>
              <a:t>Reduced Syntax and Logical Errors</a:t>
            </a:r>
            <a:endParaRPr lang="en-US" dirty="0"/>
          </a:p>
          <a:p>
            <a:pPr rtl="0"/>
            <a:r>
              <a:rPr lang="en-US" b="1" dirty="0"/>
              <a:t>Automated Code Documentation</a:t>
            </a:r>
            <a:endParaRPr lang="en-US" dirty="0"/>
          </a:p>
          <a:p>
            <a:pPr rtl="0"/>
            <a:r>
              <a:rPr lang="en-US" b="1" dirty="0"/>
              <a:t>Quick Bug Detection and Fixing</a:t>
            </a:r>
            <a:endParaRPr lang="en-US" dirty="0"/>
          </a:p>
        </p:txBody>
      </p:sp>
      <p:sp>
        <p:nvSpPr>
          <p:cNvPr id="4" name="Slide Number Placeholder 3"/>
          <p:cNvSpPr>
            <a:spLocks noGrp="1"/>
          </p:cNvSpPr>
          <p:nvPr>
            <p:ph type="sldNum" sz="quarter" idx="10"/>
          </p:nvPr>
        </p:nvSpPr>
        <p:spPr/>
        <p:txBody>
          <a:bodyPr/>
          <a:lstStyle/>
          <a:p>
            <a:fld id="{46467D57-D457-4EAE-BF4F-2FDE0C552E3A}"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E15A-8ED6-8531-ACA3-5CE122589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7DFD0-D83B-EBC4-CEFB-E8BCBC290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29BF-34AB-6B7C-2221-C7471337782A}"/>
              </a:ext>
            </a:extLst>
          </p:cNvPr>
          <p:cNvSpPr>
            <a:spLocks noGrp="1"/>
          </p:cNvSpPr>
          <p:nvPr>
            <p:ph type="dt" sz="half" idx="10"/>
          </p:nvPr>
        </p:nvSpPr>
        <p:spPr/>
        <p:txBody>
          <a:bodyPr/>
          <a:lstStyle/>
          <a:p>
            <a:fld id="{16629E6E-63F9-4FC7-8CFE-B57C7A78BC4B}" type="datetime1">
              <a:rPr lang="en-US" smtClean="0"/>
              <a:pPr/>
              <a:t>4/13/2026</a:t>
            </a:fld>
            <a:endParaRPr lang="en-US"/>
          </a:p>
        </p:txBody>
      </p:sp>
      <p:sp>
        <p:nvSpPr>
          <p:cNvPr id="5" name="Footer Placeholder 4">
            <a:extLst>
              <a:ext uri="{FF2B5EF4-FFF2-40B4-BE49-F238E27FC236}">
                <a16:creationId xmlns:a16="http://schemas.microsoft.com/office/drawing/2014/main" id="{A755F78E-7794-F036-28F3-88211ACDB6DF}"/>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81A43C1D-8CA2-9094-5D87-C15A9973260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41688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9628-5864-D26E-C525-65E3E5B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47314-70E0-2292-24E3-AB5D75A3E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846E-FBFF-1E2E-99A4-BE0E4E060CB2}"/>
              </a:ext>
            </a:extLst>
          </p:cNvPr>
          <p:cNvSpPr>
            <a:spLocks noGrp="1"/>
          </p:cNvSpPr>
          <p:nvPr>
            <p:ph type="dt" sz="half" idx="10"/>
          </p:nvPr>
        </p:nvSpPr>
        <p:spPr/>
        <p:txBody>
          <a:bodyPr/>
          <a:lstStyle/>
          <a:p>
            <a:fld id="{66EB0818-8EE1-434A-BBF0-6B5B0F8B399A}" type="datetime1">
              <a:rPr lang="en-US" smtClean="0"/>
              <a:pPr/>
              <a:t>4/13/2026</a:t>
            </a:fld>
            <a:endParaRPr lang="en-US"/>
          </a:p>
        </p:txBody>
      </p:sp>
      <p:sp>
        <p:nvSpPr>
          <p:cNvPr id="5" name="Footer Placeholder 4">
            <a:extLst>
              <a:ext uri="{FF2B5EF4-FFF2-40B4-BE49-F238E27FC236}">
                <a16:creationId xmlns:a16="http://schemas.microsoft.com/office/drawing/2014/main" id="{2194DED9-C0B4-116E-2505-1DBDB66A1F93}"/>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D09532EF-85F9-6967-DAF1-FD8F565314F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838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4261-5AB7-0C17-0691-FAC080764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B323B7-BFB6-CB47-54A2-D9047A013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65AF4-438B-B3E9-E401-90F0D5C068FB}"/>
              </a:ext>
            </a:extLst>
          </p:cNvPr>
          <p:cNvSpPr>
            <a:spLocks noGrp="1"/>
          </p:cNvSpPr>
          <p:nvPr>
            <p:ph type="dt" sz="half" idx="10"/>
          </p:nvPr>
        </p:nvSpPr>
        <p:spPr/>
        <p:txBody>
          <a:bodyPr/>
          <a:lstStyle/>
          <a:p>
            <a:fld id="{2CD5A798-9A3B-4036-954B-2D9430223118}" type="datetime1">
              <a:rPr lang="en-US" smtClean="0"/>
              <a:pPr/>
              <a:t>4/13/2026</a:t>
            </a:fld>
            <a:endParaRPr lang="en-US"/>
          </a:p>
        </p:txBody>
      </p:sp>
      <p:sp>
        <p:nvSpPr>
          <p:cNvPr id="5" name="Footer Placeholder 4">
            <a:extLst>
              <a:ext uri="{FF2B5EF4-FFF2-40B4-BE49-F238E27FC236}">
                <a16:creationId xmlns:a16="http://schemas.microsoft.com/office/drawing/2014/main" id="{74F9C8DE-9A32-A5C0-0E13-05A74F3820C8}"/>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BD8E43D-0D9C-7B2E-C87D-4680F225F552}"/>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3534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2B64-C63E-44E9-2506-8D19BCE1D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52EBF-C5BF-83EF-F061-70599F4F7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F7818-064D-B14D-C27C-DBFF56D9C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98F46-BD53-3CDC-1C65-41CC5EC54929}"/>
              </a:ext>
            </a:extLst>
          </p:cNvPr>
          <p:cNvSpPr>
            <a:spLocks noGrp="1"/>
          </p:cNvSpPr>
          <p:nvPr>
            <p:ph type="dt" sz="half" idx="10"/>
          </p:nvPr>
        </p:nvSpPr>
        <p:spPr/>
        <p:txBody>
          <a:bodyPr/>
          <a:lstStyle/>
          <a:p>
            <a:fld id="{382AF325-7C2A-41C0-AFE6-51DB9093C165}" type="datetime1">
              <a:rPr lang="en-US" smtClean="0"/>
              <a:pPr/>
              <a:t>4/13/2026</a:t>
            </a:fld>
            <a:endParaRPr lang="en-US"/>
          </a:p>
        </p:txBody>
      </p:sp>
      <p:sp>
        <p:nvSpPr>
          <p:cNvPr id="6" name="Footer Placeholder 5">
            <a:extLst>
              <a:ext uri="{FF2B5EF4-FFF2-40B4-BE49-F238E27FC236}">
                <a16:creationId xmlns:a16="http://schemas.microsoft.com/office/drawing/2014/main" id="{20A5A4F0-E8D7-9512-2938-CC32A1098AB5}"/>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9D68909C-21EB-59DF-39FF-210F6306EE3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6466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6C29-DA86-6F21-8709-CCB3B9486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F9C9AC-3485-C255-51FE-BF2807C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4E693-EB5D-0123-AE87-7BEAA5F8D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2530E-CA4A-F62C-C8E7-7A271E23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A2CC-C818-7B55-C1D7-E81B96CA0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ADFDB-C373-CB11-8A66-84DE595DA065}"/>
              </a:ext>
            </a:extLst>
          </p:cNvPr>
          <p:cNvSpPr>
            <a:spLocks noGrp="1"/>
          </p:cNvSpPr>
          <p:nvPr>
            <p:ph type="dt" sz="half" idx="10"/>
          </p:nvPr>
        </p:nvSpPr>
        <p:spPr/>
        <p:txBody>
          <a:bodyPr/>
          <a:lstStyle/>
          <a:p>
            <a:fld id="{8707ADB4-3FD1-4E07-A2B9-98A69C71E907}" type="datetime1">
              <a:rPr lang="en-US" smtClean="0"/>
              <a:pPr/>
              <a:t>4/13/2026</a:t>
            </a:fld>
            <a:endParaRPr lang="en-US"/>
          </a:p>
        </p:txBody>
      </p:sp>
      <p:sp>
        <p:nvSpPr>
          <p:cNvPr id="8" name="Footer Placeholder 7">
            <a:extLst>
              <a:ext uri="{FF2B5EF4-FFF2-40B4-BE49-F238E27FC236}">
                <a16:creationId xmlns:a16="http://schemas.microsoft.com/office/drawing/2014/main" id="{DBF2E257-BED6-EEE0-2F86-D12E9B4C6A8A}"/>
              </a:ext>
            </a:extLst>
          </p:cNvPr>
          <p:cNvSpPr>
            <a:spLocks noGrp="1"/>
          </p:cNvSpPr>
          <p:nvPr>
            <p:ph type="ftr" sz="quarter" idx="11"/>
          </p:nvPr>
        </p:nvSpPr>
        <p:spPr/>
        <p:txBody>
          <a:bodyPr/>
          <a:lstStyle/>
          <a:p>
            <a:r>
              <a:rPr lang="en-US"/>
              <a:t>Prof. Venkataramana Veeramsetty</a:t>
            </a:r>
          </a:p>
        </p:txBody>
      </p:sp>
      <p:sp>
        <p:nvSpPr>
          <p:cNvPr id="9" name="Slide Number Placeholder 8">
            <a:extLst>
              <a:ext uri="{FF2B5EF4-FFF2-40B4-BE49-F238E27FC236}">
                <a16:creationId xmlns:a16="http://schemas.microsoft.com/office/drawing/2014/main" id="{4846BED7-9CDB-5725-CB58-D080D33C34B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2017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BB1D-580F-5132-C23E-B9CD688EE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580E1-1188-F78F-DBDB-BD60F976B2CD}"/>
              </a:ext>
            </a:extLst>
          </p:cNvPr>
          <p:cNvSpPr>
            <a:spLocks noGrp="1"/>
          </p:cNvSpPr>
          <p:nvPr>
            <p:ph type="dt" sz="half" idx="10"/>
          </p:nvPr>
        </p:nvSpPr>
        <p:spPr/>
        <p:txBody>
          <a:bodyPr/>
          <a:lstStyle/>
          <a:p>
            <a:fld id="{0CD662F3-9D45-4AE9-AAC2-89F814DABB88}" type="datetime1">
              <a:rPr lang="en-US" smtClean="0"/>
              <a:pPr/>
              <a:t>4/13/2026</a:t>
            </a:fld>
            <a:endParaRPr lang="en-US"/>
          </a:p>
        </p:txBody>
      </p:sp>
      <p:sp>
        <p:nvSpPr>
          <p:cNvPr id="4" name="Footer Placeholder 3">
            <a:extLst>
              <a:ext uri="{FF2B5EF4-FFF2-40B4-BE49-F238E27FC236}">
                <a16:creationId xmlns:a16="http://schemas.microsoft.com/office/drawing/2014/main" id="{A13376EA-12EF-2180-D39D-32B344DD8320}"/>
              </a:ext>
            </a:extLst>
          </p:cNvPr>
          <p:cNvSpPr>
            <a:spLocks noGrp="1"/>
          </p:cNvSpPr>
          <p:nvPr>
            <p:ph type="ftr" sz="quarter" idx="11"/>
          </p:nvPr>
        </p:nvSpPr>
        <p:spPr/>
        <p:txBody>
          <a:bodyPr/>
          <a:lstStyle/>
          <a:p>
            <a:r>
              <a:rPr lang="en-US"/>
              <a:t>Prof. Venkataramana Veeramsetty</a:t>
            </a:r>
          </a:p>
        </p:txBody>
      </p:sp>
      <p:sp>
        <p:nvSpPr>
          <p:cNvPr id="5" name="Slide Number Placeholder 4">
            <a:extLst>
              <a:ext uri="{FF2B5EF4-FFF2-40B4-BE49-F238E27FC236}">
                <a16:creationId xmlns:a16="http://schemas.microsoft.com/office/drawing/2014/main" id="{590EC9DB-DCC3-B1AB-587D-7D5D1DFE032B}"/>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8307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57248-1ACE-B0B5-9242-19E7C1473CC7}"/>
              </a:ext>
            </a:extLst>
          </p:cNvPr>
          <p:cNvSpPr>
            <a:spLocks noGrp="1"/>
          </p:cNvSpPr>
          <p:nvPr>
            <p:ph type="dt" sz="half" idx="10"/>
          </p:nvPr>
        </p:nvSpPr>
        <p:spPr/>
        <p:txBody>
          <a:bodyPr/>
          <a:lstStyle/>
          <a:p>
            <a:fld id="{74086E71-A404-4C6B-BA20-EBBC64FC893D}" type="datetime1">
              <a:rPr lang="en-US" smtClean="0"/>
              <a:pPr/>
              <a:t>4/13/2026</a:t>
            </a:fld>
            <a:endParaRPr lang="en-US"/>
          </a:p>
        </p:txBody>
      </p:sp>
      <p:sp>
        <p:nvSpPr>
          <p:cNvPr id="3" name="Footer Placeholder 2">
            <a:extLst>
              <a:ext uri="{FF2B5EF4-FFF2-40B4-BE49-F238E27FC236}">
                <a16:creationId xmlns:a16="http://schemas.microsoft.com/office/drawing/2014/main" id="{D2B83C30-0C93-9307-2564-157C44936C29}"/>
              </a:ext>
            </a:extLst>
          </p:cNvPr>
          <p:cNvSpPr>
            <a:spLocks noGrp="1"/>
          </p:cNvSpPr>
          <p:nvPr>
            <p:ph type="ftr" sz="quarter" idx="11"/>
          </p:nvPr>
        </p:nvSpPr>
        <p:spPr/>
        <p:txBody>
          <a:bodyPr/>
          <a:lstStyle/>
          <a:p>
            <a:r>
              <a:rPr lang="en-US"/>
              <a:t>Prof. Venkataramana Veeramsetty</a:t>
            </a:r>
          </a:p>
        </p:txBody>
      </p:sp>
      <p:sp>
        <p:nvSpPr>
          <p:cNvPr id="4" name="Slide Number Placeholder 3">
            <a:extLst>
              <a:ext uri="{FF2B5EF4-FFF2-40B4-BE49-F238E27FC236}">
                <a16:creationId xmlns:a16="http://schemas.microsoft.com/office/drawing/2014/main" id="{2AAE16DA-E589-FA88-4D7C-103B1A6AB8AD}"/>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4336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C4F56-B781-88DE-B5CF-8666E1686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48CB4-7C73-57F6-4C1F-6C475FF92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CCB3E8-9234-B7F9-0909-B0DDAA520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25712-9136-2D26-AB91-5E8C187F0CAD}"/>
              </a:ext>
            </a:extLst>
          </p:cNvPr>
          <p:cNvSpPr>
            <a:spLocks noGrp="1"/>
          </p:cNvSpPr>
          <p:nvPr>
            <p:ph type="dt" sz="half" idx="10"/>
          </p:nvPr>
        </p:nvSpPr>
        <p:spPr/>
        <p:txBody>
          <a:bodyPr/>
          <a:lstStyle/>
          <a:p>
            <a:fld id="{5CA552DD-4519-4609-B804-D5D4D97D21E7}" type="datetime1">
              <a:rPr lang="en-US" smtClean="0"/>
              <a:pPr/>
              <a:t>4/13/2026</a:t>
            </a:fld>
            <a:endParaRPr lang="en-US"/>
          </a:p>
        </p:txBody>
      </p:sp>
      <p:sp>
        <p:nvSpPr>
          <p:cNvPr id="6" name="Footer Placeholder 5">
            <a:extLst>
              <a:ext uri="{FF2B5EF4-FFF2-40B4-BE49-F238E27FC236}">
                <a16:creationId xmlns:a16="http://schemas.microsoft.com/office/drawing/2014/main" id="{03C51FC2-9B9E-5567-DCBC-97BA5F12D230}"/>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193D5149-27C1-FBF9-584D-0CDCAADDEA0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2466453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ECB5-0124-E4AB-796D-4DD2001A1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9C8-FE9F-0C66-9C71-8C3DDAE55F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2CBBC3-C85A-2A3F-441B-71C12E1B7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CC9F9-8D8B-FF83-A7D0-ECAE1A08610D}"/>
              </a:ext>
            </a:extLst>
          </p:cNvPr>
          <p:cNvSpPr>
            <a:spLocks noGrp="1"/>
          </p:cNvSpPr>
          <p:nvPr>
            <p:ph type="dt" sz="half" idx="10"/>
          </p:nvPr>
        </p:nvSpPr>
        <p:spPr/>
        <p:txBody>
          <a:bodyPr/>
          <a:lstStyle/>
          <a:p>
            <a:fld id="{C1417FBA-9928-479F-A232-A50A482B881F}" type="datetime1">
              <a:rPr lang="en-US" smtClean="0"/>
              <a:pPr/>
              <a:t>4/13/2026</a:t>
            </a:fld>
            <a:endParaRPr lang="en-US"/>
          </a:p>
        </p:txBody>
      </p:sp>
      <p:sp>
        <p:nvSpPr>
          <p:cNvPr id="6" name="Footer Placeholder 5">
            <a:extLst>
              <a:ext uri="{FF2B5EF4-FFF2-40B4-BE49-F238E27FC236}">
                <a16:creationId xmlns:a16="http://schemas.microsoft.com/office/drawing/2014/main" id="{61717425-9B0E-9676-ADA4-8456000AB609}"/>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E90C69FA-8AB7-BCF6-F761-4FAE3861082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11520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8D7-ED46-1642-DC1A-3A465BB2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4E15FD-A10E-BAF8-E05C-538407F87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E2C9-0FB1-E71A-FB85-9648E0180D57}"/>
              </a:ext>
            </a:extLst>
          </p:cNvPr>
          <p:cNvSpPr>
            <a:spLocks noGrp="1"/>
          </p:cNvSpPr>
          <p:nvPr>
            <p:ph type="dt" sz="half" idx="10"/>
          </p:nvPr>
        </p:nvSpPr>
        <p:spPr/>
        <p:txBody>
          <a:bodyPr/>
          <a:lstStyle/>
          <a:p>
            <a:fld id="{4591516C-6EE7-4F99-A3E1-1C2A5FC4A80F}" type="datetime1">
              <a:rPr lang="en-US" smtClean="0"/>
              <a:pPr/>
              <a:t>4/13/2026</a:t>
            </a:fld>
            <a:endParaRPr lang="en-US"/>
          </a:p>
        </p:txBody>
      </p:sp>
      <p:sp>
        <p:nvSpPr>
          <p:cNvPr id="5" name="Footer Placeholder 4">
            <a:extLst>
              <a:ext uri="{FF2B5EF4-FFF2-40B4-BE49-F238E27FC236}">
                <a16:creationId xmlns:a16="http://schemas.microsoft.com/office/drawing/2014/main" id="{372025A5-BF35-212A-9794-5B9117B897A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322621E-0398-079F-48B0-4E9BF4D8597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398280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85918-5C87-9CA6-5F8A-9772EFAB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2CDE8-2A9D-A636-8E8E-D9BC332C9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A6C24-D833-818E-EA16-DF647970307D}"/>
              </a:ext>
            </a:extLst>
          </p:cNvPr>
          <p:cNvSpPr>
            <a:spLocks noGrp="1"/>
          </p:cNvSpPr>
          <p:nvPr>
            <p:ph type="dt" sz="half" idx="10"/>
          </p:nvPr>
        </p:nvSpPr>
        <p:spPr/>
        <p:txBody>
          <a:bodyPr/>
          <a:lstStyle/>
          <a:p>
            <a:fld id="{27A10B26-6DF6-41E7-9E79-2F8F2A1599E8}" type="datetime1">
              <a:rPr lang="en-US" smtClean="0"/>
              <a:pPr/>
              <a:t>4/13/2026</a:t>
            </a:fld>
            <a:endParaRPr lang="en-US"/>
          </a:p>
        </p:txBody>
      </p:sp>
      <p:sp>
        <p:nvSpPr>
          <p:cNvPr id="5" name="Footer Placeholder 4">
            <a:extLst>
              <a:ext uri="{FF2B5EF4-FFF2-40B4-BE49-F238E27FC236}">
                <a16:creationId xmlns:a16="http://schemas.microsoft.com/office/drawing/2014/main" id="{0D9DE245-B4A4-F43F-404C-840EF95B11C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BCB5E3AB-A1E1-E9C0-F70E-E74A4DF44EB7}"/>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0367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C4ECF-2932-CCE3-D471-28AEE158A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C3F014-55A0-15E8-570C-9924061EA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FC8E4-76AA-BD7E-E8F5-883744F5A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29BFC8-5C74-495F-A3BA-0D466EB87652}" type="datetime1">
              <a:rPr lang="en-US" smtClean="0"/>
              <a:pPr/>
              <a:t>4/13/2026</a:t>
            </a:fld>
            <a:endParaRPr lang="en-US"/>
          </a:p>
        </p:txBody>
      </p:sp>
      <p:sp>
        <p:nvSpPr>
          <p:cNvPr id="5" name="Footer Placeholder 4">
            <a:extLst>
              <a:ext uri="{FF2B5EF4-FFF2-40B4-BE49-F238E27FC236}">
                <a16:creationId xmlns:a16="http://schemas.microsoft.com/office/drawing/2014/main" id="{87FCE52D-3D9F-AC04-8299-E6328C65F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Prof. Venkataramana Veeramsetty</a:t>
            </a:r>
          </a:p>
        </p:txBody>
      </p:sp>
      <p:sp>
        <p:nvSpPr>
          <p:cNvPr id="6" name="Slide Number Placeholder 5">
            <a:extLst>
              <a:ext uri="{FF2B5EF4-FFF2-40B4-BE49-F238E27FC236}">
                <a16:creationId xmlns:a16="http://schemas.microsoft.com/office/drawing/2014/main" id="{8E9F1DD0-ABF1-D159-6BFD-2D7BD52843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E7C99-B088-4EBB-BFF6-BECCC96D5DD8}" type="slidenum">
              <a:rPr lang="en-US" smtClean="0"/>
              <a:pPr/>
              <a:t>‹#›</a:t>
            </a:fld>
            <a:endParaRPr lang="en-US"/>
          </a:p>
        </p:txBody>
      </p:sp>
    </p:spTree>
    <p:extLst>
      <p:ext uri="{BB962C8B-B14F-4D97-AF65-F5344CB8AC3E}">
        <p14:creationId xmlns:p14="http://schemas.microsoft.com/office/powerpoint/2010/main" val="236190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3AD59B-B937-62D9-5735-51CEE9500FCD}"/>
              </a:ext>
            </a:extLst>
          </p:cNvPr>
          <p:cNvSpPr>
            <a:spLocks noGrp="1"/>
          </p:cNvSpPr>
          <p:nvPr>
            <p:ph type="sldNum" sz="quarter" idx="12"/>
          </p:nvPr>
        </p:nvSpPr>
        <p:spPr/>
        <p:txBody>
          <a:bodyPr/>
          <a:lstStyle/>
          <a:p>
            <a:fld id="{6EFE7C99-B088-4EBB-BFF6-BECCC96D5DD8}" type="slidenum">
              <a:rPr lang="en-US" smtClean="0"/>
              <a:pPr/>
              <a:t>1</a:t>
            </a:fld>
            <a:endParaRPr lang="en-US"/>
          </a:p>
        </p:txBody>
      </p:sp>
      <p:pic>
        <p:nvPicPr>
          <p:cNvPr id="5" name="Picture 4" descr="WhatsApp Image 2024-08-23 at 15.43.17">
            <a:extLst>
              <a:ext uri="{FF2B5EF4-FFF2-40B4-BE49-F238E27FC236}">
                <a16:creationId xmlns:a16="http://schemas.microsoft.com/office/drawing/2014/main" id="{511F7C88-3611-5683-E625-AAFA7AEC7877}"/>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6" name="Group 5">
            <a:extLst>
              <a:ext uri="{FF2B5EF4-FFF2-40B4-BE49-F238E27FC236}">
                <a16:creationId xmlns:a16="http://schemas.microsoft.com/office/drawing/2014/main" id="{A0F52DBC-0B28-AE8F-24CC-9676E5E593E0}"/>
              </a:ext>
            </a:extLst>
          </p:cNvPr>
          <p:cNvGrpSpPr/>
          <p:nvPr/>
        </p:nvGrpSpPr>
        <p:grpSpPr>
          <a:xfrm>
            <a:off x="2336800" y="134364"/>
            <a:ext cx="9745291" cy="677445"/>
            <a:chOff x="2336800" y="134364"/>
            <a:chExt cx="9745291" cy="677445"/>
          </a:xfrm>
          <a:solidFill>
            <a:srgbClr val="194E91"/>
          </a:solidFill>
        </p:grpSpPr>
        <p:sp>
          <p:nvSpPr>
            <p:cNvPr id="7" name="TextBox 6">
              <a:extLst>
                <a:ext uri="{FF2B5EF4-FFF2-40B4-BE49-F238E27FC236}">
                  <a16:creationId xmlns:a16="http://schemas.microsoft.com/office/drawing/2014/main" id="{E19364A7-D8D1-1542-CB34-5C986B556258}"/>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8" name="TextBox 7">
              <a:extLst>
                <a:ext uri="{FF2B5EF4-FFF2-40B4-BE49-F238E27FC236}">
                  <a16:creationId xmlns:a16="http://schemas.microsoft.com/office/drawing/2014/main" id="{941339AB-01E9-F439-372C-2734D9133E8E}"/>
                </a:ext>
              </a:extLst>
            </p:cNvPr>
            <p:cNvSpPr txBox="1"/>
            <p:nvPr/>
          </p:nvSpPr>
          <p:spPr>
            <a:xfrm>
              <a:off x="2394530" y="273031"/>
              <a:ext cx="9687560" cy="400110"/>
            </a:xfrm>
            <a:prstGeom prst="rect">
              <a:avLst/>
            </a:prstGeom>
            <a:grpFill/>
          </p:spPr>
          <p:txBody>
            <a:bodyPr wrap="square" rtlCol="0">
              <a:spAutoFit/>
            </a:bodyPr>
            <a:lstStyle/>
            <a:p>
              <a:r>
                <a:rPr lang="en-US" sz="2000" b="1" dirty="0">
                  <a:solidFill>
                    <a:schemeClr val="bg1"/>
                  </a:solidFill>
                </a:rPr>
                <a:t>School of Computer Science and Artificial Intelligence , SR University</a:t>
              </a:r>
              <a:endParaRPr lang="en-US" sz="2000" dirty="0"/>
            </a:p>
          </p:txBody>
        </p:sp>
      </p:grpSp>
      <p:sp>
        <p:nvSpPr>
          <p:cNvPr id="9" name="TextBox 8">
            <a:extLst>
              <a:ext uri="{FF2B5EF4-FFF2-40B4-BE49-F238E27FC236}">
                <a16:creationId xmlns:a16="http://schemas.microsoft.com/office/drawing/2014/main" id="{2AEA439D-63C0-384B-66E5-A689A2F4FE75}"/>
              </a:ext>
            </a:extLst>
          </p:cNvPr>
          <p:cNvSpPr txBox="1"/>
          <p:nvPr/>
        </p:nvSpPr>
        <p:spPr>
          <a:xfrm>
            <a:off x="0" y="4151929"/>
            <a:ext cx="4900125" cy="400110"/>
          </a:xfrm>
          <a:prstGeom prst="rect">
            <a:avLst/>
          </a:prstGeom>
          <a:noFill/>
        </p:spPr>
        <p:txBody>
          <a:bodyPr wrap="square">
            <a:spAutoFit/>
          </a:bodyPr>
          <a:lstStyle/>
          <a:p>
            <a:r>
              <a:rPr lang="en-IN" sz="2000" dirty="0">
                <a:latin typeface="Arial Black" panose="020B0A04020102020204" pitchFamily="34" charset="0"/>
              </a:rPr>
              <a:t>Faculty Name: </a:t>
            </a:r>
            <a:r>
              <a:rPr lang="en-IN" sz="2000" dirty="0">
                <a:highlight>
                  <a:srgbClr val="C0C0C0"/>
                </a:highlight>
                <a:latin typeface="Arial Black" panose="020B0A04020102020204" pitchFamily="34" charset="0"/>
              </a:rPr>
              <a:t>Dr. Mathivanan D</a:t>
            </a:r>
          </a:p>
        </p:txBody>
      </p:sp>
      <p:sp>
        <p:nvSpPr>
          <p:cNvPr id="10" name="TextBox 9">
            <a:extLst>
              <a:ext uri="{FF2B5EF4-FFF2-40B4-BE49-F238E27FC236}">
                <a16:creationId xmlns:a16="http://schemas.microsoft.com/office/drawing/2014/main" id="{3EF0EA24-3698-A6C0-3211-59279C95E666}"/>
              </a:ext>
            </a:extLst>
          </p:cNvPr>
          <p:cNvSpPr txBox="1"/>
          <p:nvPr/>
        </p:nvSpPr>
        <p:spPr>
          <a:xfrm>
            <a:off x="9251928" y="3582543"/>
            <a:ext cx="2615558" cy="2308324"/>
          </a:xfrm>
          <a:prstGeom prst="rect">
            <a:avLst/>
          </a:prstGeom>
          <a:noFill/>
        </p:spPr>
        <p:txBody>
          <a:bodyPr wrap="square" rtlCol="0">
            <a:spAutoFit/>
          </a:bodyPr>
          <a:lstStyle/>
          <a:p>
            <a:r>
              <a:rPr lang="en-US" sz="2400" b="1" dirty="0">
                <a:solidFill>
                  <a:srgbClr val="164F8F"/>
                </a:solidFill>
              </a:rPr>
              <a:t>TEAM DETALIS </a:t>
            </a:r>
          </a:p>
          <a:p>
            <a:r>
              <a:rPr lang="en-US" sz="2400" b="1" dirty="0">
                <a:solidFill>
                  <a:srgbClr val="164F8F"/>
                </a:solidFill>
              </a:rPr>
              <a:t>A.SATHWIK </a:t>
            </a:r>
          </a:p>
          <a:p>
            <a:r>
              <a:rPr lang="en-US" sz="2400" b="1" dirty="0">
                <a:solidFill>
                  <a:srgbClr val="164F8F"/>
                </a:solidFill>
              </a:rPr>
              <a:t>MOSES ANTHOY </a:t>
            </a:r>
          </a:p>
          <a:p>
            <a:r>
              <a:rPr lang="en-US" sz="2400" b="1" dirty="0">
                <a:solidFill>
                  <a:srgbClr val="164F8F"/>
                </a:solidFill>
              </a:rPr>
              <a:t>JEVAN REDDY </a:t>
            </a:r>
          </a:p>
          <a:p>
            <a:r>
              <a:rPr lang="en-US" sz="2400" b="1" dirty="0">
                <a:solidFill>
                  <a:srgbClr val="164F8F"/>
                </a:solidFill>
              </a:rPr>
              <a:t>KARTHIK REDDY</a:t>
            </a:r>
          </a:p>
          <a:p>
            <a:r>
              <a:rPr lang="en-US" sz="2400" b="1" dirty="0">
                <a:solidFill>
                  <a:srgbClr val="164F8F"/>
                </a:solidFill>
              </a:rPr>
              <a:t> </a:t>
            </a:r>
          </a:p>
        </p:txBody>
      </p:sp>
    </p:spTree>
    <p:extLst>
      <p:ext uri="{BB962C8B-B14F-4D97-AF65-F5344CB8AC3E}">
        <p14:creationId xmlns:p14="http://schemas.microsoft.com/office/powerpoint/2010/main" val="682326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42C3F97-7163-10DB-A067-B3F1568C9564}"/>
              </a:ext>
            </a:extLst>
          </p:cNvPr>
          <p:cNvSpPr>
            <a:spLocks noGrp="1"/>
          </p:cNvSpPr>
          <p:nvPr>
            <p:ph type="dt" sz="half" idx="10"/>
          </p:nvPr>
        </p:nvSpPr>
        <p:spPr/>
        <p:txBody>
          <a:bodyPr/>
          <a:lstStyle/>
          <a:p>
            <a:fld id="{4D1B6A9F-AD96-4D7B-9874-EB7A5E6B8FED}" type="datetime1">
              <a:rPr lang="en-US" smtClean="0"/>
              <a:pPr/>
              <a:t>4/13/2026</a:t>
            </a:fld>
            <a:endParaRPr lang="en-US" dirty="0"/>
          </a:p>
        </p:txBody>
      </p:sp>
      <p:sp>
        <p:nvSpPr>
          <p:cNvPr id="15" name="Slide Number Placeholder 14">
            <a:extLst>
              <a:ext uri="{FF2B5EF4-FFF2-40B4-BE49-F238E27FC236}">
                <a16:creationId xmlns:a16="http://schemas.microsoft.com/office/drawing/2014/main" id="{B743A2CC-628E-6D6B-CB09-6DD9562DC0FF}"/>
              </a:ext>
            </a:extLst>
          </p:cNvPr>
          <p:cNvSpPr>
            <a:spLocks noGrp="1"/>
          </p:cNvSpPr>
          <p:nvPr>
            <p:ph type="sldNum" sz="quarter" idx="12"/>
          </p:nvPr>
        </p:nvSpPr>
        <p:spPr/>
        <p:txBody>
          <a:bodyPr/>
          <a:lstStyle/>
          <a:p>
            <a:fld id="{6EFE7C99-B088-4EBB-BFF6-BECCC96D5DD8}" type="slidenum">
              <a:rPr lang="en-US" smtClean="0"/>
              <a:pPr/>
              <a:t>2</a:t>
            </a:fld>
            <a:endParaRPr lang="en-US"/>
          </a:p>
        </p:txBody>
      </p:sp>
      <p:grpSp>
        <p:nvGrpSpPr>
          <p:cNvPr id="5" name="Group 4">
            <a:extLst>
              <a:ext uri="{FF2B5EF4-FFF2-40B4-BE49-F238E27FC236}">
                <a16:creationId xmlns:a16="http://schemas.microsoft.com/office/drawing/2014/main" id="{7843BD2A-3656-4EFB-EE81-1532C7D1499D}"/>
              </a:ext>
            </a:extLst>
          </p:cNvPr>
          <p:cNvGrpSpPr/>
          <p:nvPr/>
        </p:nvGrpSpPr>
        <p:grpSpPr>
          <a:xfrm>
            <a:off x="2336800" y="134364"/>
            <a:ext cx="9745291" cy="677445"/>
            <a:chOff x="2336800" y="134364"/>
            <a:chExt cx="9745291" cy="677445"/>
          </a:xfrm>
          <a:solidFill>
            <a:srgbClr val="194E91"/>
          </a:solidFill>
        </p:grpSpPr>
        <p:sp>
          <p:nvSpPr>
            <p:cNvPr id="6" name="TextBox 5">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10" name="TextBox 9">
              <a:extLst>
                <a:ext uri="{FF2B5EF4-FFF2-40B4-BE49-F238E27FC236}">
                  <a16:creationId xmlns:a16="http://schemas.microsoft.com/office/drawing/2014/main" id="{3D5B2BB8-BCBA-3DA1-A07C-DCC08FAF71AB}"/>
                </a:ext>
              </a:extLst>
            </p:cNvPr>
            <p:cNvSpPr txBox="1"/>
            <p:nvPr/>
          </p:nvSpPr>
          <p:spPr>
            <a:xfrm>
              <a:off x="2394530" y="273031"/>
              <a:ext cx="9687560" cy="400110"/>
            </a:xfrm>
            <a:prstGeom prst="rect">
              <a:avLst/>
            </a:prstGeom>
            <a:grpFill/>
          </p:spPr>
          <p:txBody>
            <a:bodyPr wrap="square" rtlCol="0">
              <a:spAutoFit/>
            </a:bodyPr>
            <a:lstStyle/>
            <a:p>
              <a:r>
                <a:rPr lang="en-US" sz="2000" b="1" dirty="0">
                  <a:solidFill>
                    <a:schemeClr val="bg1"/>
                  </a:solidFill>
                </a:rPr>
                <a:t>School of Computer Science and Artificial Intelligence , SR University</a:t>
              </a:r>
              <a:endParaRPr lang="en-US" sz="2000" dirty="0"/>
            </a:p>
          </p:txBody>
        </p:sp>
      </p:grpSp>
      <p:graphicFrame>
        <p:nvGraphicFramePr>
          <p:cNvPr id="7" name="Table 6">
            <a:extLst>
              <a:ext uri="{FF2B5EF4-FFF2-40B4-BE49-F238E27FC236}">
                <a16:creationId xmlns:a16="http://schemas.microsoft.com/office/drawing/2014/main" id="{32CBDC2E-BD06-8640-47FA-8A89F35A9B96}"/>
              </a:ext>
            </a:extLst>
          </p:cNvPr>
          <p:cNvGraphicFramePr>
            <a:graphicFrameLocks noGrp="1"/>
          </p:cNvGraphicFramePr>
          <p:nvPr>
            <p:extLst>
              <p:ext uri="{D42A27DB-BD31-4B8C-83A1-F6EECF244321}">
                <p14:modId xmlns:p14="http://schemas.microsoft.com/office/powerpoint/2010/main" val="1062698954"/>
              </p:ext>
            </p:extLst>
          </p:nvPr>
        </p:nvGraphicFramePr>
        <p:xfrm>
          <a:off x="4054472" y="950476"/>
          <a:ext cx="3605959" cy="731520"/>
        </p:xfrm>
        <a:graphic>
          <a:graphicData uri="http://schemas.openxmlformats.org/drawingml/2006/table">
            <a:tbl>
              <a:tblPr firstRow="1" bandRow="1">
                <a:tableStyleId>{5C22544A-7EE6-4342-B048-85BDC9FD1C3A}</a:tableStyleId>
              </a:tblPr>
              <a:tblGrid>
                <a:gridCol w="3605959">
                  <a:extLst>
                    <a:ext uri="{9D8B030D-6E8A-4147-A177-3AD203B41FA5}">
                      <a16:colId xmlns:a16="http://schemas.microsoft.com/office/drawing/2014/main" val="2194831218"/>
                    </a:ext>
                  </a:extLst>
                </a:gridCol>
              </a:tblGrid>
              <a:tr h="250479">
                <a:tc>
                  <a:txBody>
                    <a:bodyPr/>
                    <a:lstStyle/>
                    <a:p>
                      <a:pPr algn="ctr"/>
                      <a:r>
                        <a:rPr lang="en-US" dirty="0"/>
                        <a:t>Course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1277188046"/>
                  </a:ext>
                </a:extLst>
              </a:tr>
              <a:tr h="250479">
                <a:tc>
                  <a:txBody>
                    <a:bodyPr/>
                    <a:lstStyle/>
                    <a:p>
                      <a:pPr algn="ctr"/>
                      <a:r>
                        <a:rPr lang="en-US" b="1" dirty="0">
                          <a:solidFill>
                            <a:srgbClr val="164F8F"/>
                          </a:solidFill>
                        </a:rPr>
                        <a:t>AI ASSISTED CODING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9299816"/>
                  </a:ext>
                </a:extLst>
              </a:tr>
            </a:tbl>
          </a:graphicData>
        </a:graphic>
      </p:graphicFrame>
      <p:sp>
        <p:nvSpPr>
          <p:cNvPr id="9" name="TextBox 8">
            <a:extLst>
              <a:ext uri="{FF2B5EF4-FFF2-40B4-BE49-F238E27FC236}">
                <a16:creationId xmlns:a16="http://schemas.microsoft.com/office/drawing/2014/main" id="{4DAF9E35-AFA7-1D1B-610E-9E203A83EA51}"/>
              </a:ext>
            </a:extLst>
          </p:cNvPr>
          <p:cNvSpPr txBox="1"/>
          <p:nvPr/>
        </p:nvSpPr>
        <p:spPr>
          <a:xfrm>
            <a:off x="317643" y="2905780"/>
            <a:ext cx="11411337" cy="523220"/>
          </a:xfrm>
          <a:prstGeom prst="rect">
            <a:avLst/>
          </a:prstGeom>
          <a:noFill/>
        </p:spPr>
        <p:txBody>
          <a:bodyPr wrap="square">
            <a:spAutoFit/>
          </a:bodyPr>
          <a:lstStyle/>
          <a:p>
            <a:pPr algn="ctr"/>
            <a:r>
              <a:rPr lang="en-IN" sz="2800" b="1" dirty="0">
                <a:solidFill>
                  <a:srgbClr val="FF0000"/>
                </a:solidFill>
                <a:latin typeface="Times New Roman" panose="02020603050405020304" pitchFamily="18" charset="0"/>
                <a:cs typeface="Times New Roman" panose="02020603050405020304" pitchFamily="18" charset="0"/>
              </a:rPr>
              <a:t>AI Disaster Alert &amp; Safety Assistant</a:t>
            </a:r>
          </a:p>
        </p:txBody>
      </p:sp>
      <p:sp>
        <p:nvSpPr>
          <p:cNvPr id="2" name="Rectangle 1">
            <a:extLst>
              <a:ext uri="{FF2B5EF4-FFF2-40B4-BE49-F238E27FC236}">
                <a16:creationId xmlns:a16="http://schemas.microsoft.com/office/drawing/2014/main" id="{24A06793-2A66-EB50-CFB6-DEA20C99E65A}"/>
              </a:ext>
            </a:extLst>
          </p:cNvPr>
          <p:cNvSpPr/>
          <p:nvPr/>
        </p:nvSpPr>
        <p:spPr>
          <a:xfrm>
            <a:off x="2827175" y="1924764"/>
            <a:ext cx="7072604" cy="677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779690B-2284-69AB-2AD3-D736DBC4FD51}"/>
              </a:ext>
            </a:extLst>
          </p:cNvPr>
          <p:cNvSpPr txBox="1"/>
          <p:nvPr/>
        </p:nvSpPr>
        <p:spPr>
          <a:xfrm>
            <a:off x="2827175" y="1924764"/>
            <a:ext cx="7072604" cy="584775"/>
          </a:xfrm>
          <a:prstGeom prst="rect">
            <a:avLst/>
          </a:prstGeom>
          <a:noFill/>
        </p:spPr>
        <p:txBody>
          <a:bodyPr wrap="square" rtlCol="0">
            <a:spAutoFit/>
          </a:bodyPr>
          <a:lstStyle/>
          <a:p>
            <a:pPr algn="ctr"/>
            <a:r>
              <a:rPr lang="en-US" sz="3200" dirty="0">
                <a:solidFill>
                  <a:srgbClr val="FF0000"/>
                </a:solidFill>
                <a:highlight>
                  <a:srgbClr val="FFFF00"/>
                </a:highlight>
              </a:rPr>
              <a:t>PROJECT TITLE</a:t>
            </a:r>
            <a:endParaRPr lang="en-IN" sz="3200" dirty="0">
              <a:solidFill>
                <a:srgbClr val="FF0000"/>
              </a:solidFill>
              <a:highlight>
                <a:srgbClr val="FFFF00"/>
              </a:highlight>
            </a:endParaRPr>
          </a:p>
        </p:txBody>
      </p:sp>
    </p:spTree>
    <p:extLst>
      <p:ext uri="{BB962C8B-B14F-4D97-AF65-F5344CB8AC3E}">
        <p14:creationId xmlns:p14="http://schemas.microsoft.com/office/powerpoint/2010/main" val="175850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D16C-EACE-807C-AB29-6D4BBE7ACF1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DA9BF963-A14E-0D23-3CC5-2A29AECF7B7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DB5567E-5927-9983-2116-CA7232D43C30}"/>
              </a:ext>
            </a:extLst>
          </p:cNvPr>
          <p:cNvSpPr>
            <a:spLocks noGrp="1"/>
          </p:cNvSpPr>
          <p:nvPr>
            <p:ph type="dt" sz="half" idx="10"/>
          </p:nvPr>
        </p:nvSpPr>
        <p:spPr/>
        <p:txBody>
          <a:bodyPr/>
          <a:lstStyle/>
          <a:p>
            <a:fld id="{957F14D1-DE72-476D-8447-65A714EC83A2}" type="datetime1">
              <a:rPr lang="en-US" smtClean="0"/>
              <a:pPr/>
              <a:t>4/13/2026</a:t>
            </a:fld>
            <a:endParaRPr lang="en-US" dirty="0"/>
          </a:p>
        </p:txBody>
      </p:sp>
      <p:sp>
        <p:nvSpPr>
          <p:cNvPr id="15" name="Slide Number Placeholder 14">
            <a:extLst>
              <a:ext uri="{FF2B5EF4-FFF2-40B4-BE49-F238E27FC236}">
                <a16:creationId xmlns:a16="http://schemas.microsoft.com/office/drawing/2014/main" id="{FC1B7CF2-B14D-6BDA-CD4A-D84A5D3F6B49}"/>
              </a:ext>
            </a:extLst>
          </p:cNvPr>
          <p:cNvSpPr>
            <a:spLocks noGrp="1"/>
          </p:cNvSpPr>
          <p:nvPr>
            <p:ph type="sldNum" sz="quarter" idx="12"/>
          </p:nvPr>
        </p:nvSpPr>
        <p:spPr/>
        <p:txBody>
          <a:bodyPr/>
          <a:lstStyle/>
          <a:p>
            <a:fld id="{6EFE7C99-B088-4EBB-BFF6-BECCC96D5DD8}" type="slidenum">
              <a:rPr lang="en-US" smtClean="0"/>
              <a:pPr/>
              <a:t>3</a:t>
            </a:fld>
            <a:endParaRPr lang="en-US"/>
          </a:p>
        </p:txBody>
      </p:sp>
      <p:sp>
        <p:nvSpPr>
          <p:cNvPr id="10" name="TextBox 9">
            <a:extLst>
              <a:ext uri="{FF2B5EF4-FFF2-40B4-BE49-F238E27FC236}">
                <a16:creationId xmlns:a16="http://schemas.microsoft.com/office/drawing/2014/main" id="{A2F9E1E2-9AD9-535D-2D69-ACE96CF7B4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014FCD0-21EB-628F-6257-153596366AD3}"/>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A4B850F-806B-BBFF-1AF4-974F9A13EA8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A41B9311-EB0F-91C5-AE6F-9C882E10B2F6}"/>
                </a:ext>
              </a:extLst>
            </p:cNvPr>
            <p:cNvSpPr txBox="1"/>
            <p:nvPr/>
          </p:nvSpPr>
          <p:spPr>
            <a:xfrm>
              <a:off x="2394530" y="273031"/>
              <a:ext cx="9687560" cy="400110"/>
            </a:xfrm>
            <a:prstGeom prst="rect">
              <a:avLst/>
            </a:prstGeom>
            <a:grpFill/>
          </p:spPr>
          <p:txBody>
            <a:bodyPr wrap="square" rtlCol="0">
              <a:spAutoFit/>
            </a:bodyPr>
            <a:lstStyle/>
            <a:p>
              <a:pPr algn="ctr"/>
              <a:r>
                <a:rPr lang="en-IN" sz="2000" dirty="0"/>
                <a:t>Introduction</a:t>
              </a:r>
              <a:endParaRPr lang="en-US" sz="2000" dirty="0"/>
            </a:p>
          </p:txBody>
        </p:sp>
      </p:grpSp>
      <p:sp>
        <p:nvSpPr>
          <p:cNvPr id="14" name="TextBox 13"/>
          <p:cNvSpPr txBox="1"/>
          <p:nvPr/>
        </p:nvSpPr>
        <p:spPr>
          <a:xfrm>
            <a:off x="6340050" y="1458595"/>
            <a:ext cx="5614380" cy="4247317"/>
          </a:xfrm>
          <a:prstGeom prst="rect">
            <a:avLst/>
          </a:prstGeom>
          <a:noFill/>
        </p:spPr>
        <p:txBody>
          <a:bodyPr wrap="square" rtlCol="0">
            <a:spAutoFit/>
          </a:bodyPr>
          <a:lstStyle/>
          <a:p>
            <a:r>
              <a:rPr lang="en-US" dirty="0"/>
              <a:t>Natural disasters such as floods, earthquakes, cyclones, and fires cause severe damage to life and property every year. During such emergencies, people often lack real-time information and proper safety guidance, which increases the risk of harm.</a:t>
            </a:r>
          </a:p>
          <a:p>
            <a:r>
              <a:rPr lang="en-US" dirty="0"/>
              <a:t>To address this problem, we developed an </a:t>
            </a:r>
            <a:r>
              <a:rPr lang="en-US" b="1" dirty="0"/>
              <a:t>AI Disaster Alert &amp; Safety Assistant</a:t>
            </a:r>
            <a:r>
              <a:rPr lang="en-US" dirty="0"/>
              <a:t>, which uses artificial intelligence to analyze potential disaster situations based on user input. The system identifies the type of disaster, predicts the risk level (Low, Medium, High), and provides instant safety instructions along with emergency contacts.</a:t>
            </a:r>
          </a:p>
          <a:p>
            <a:r>
              <a:rPr lang="en-US" dirty="0"/>
              <a:t>This project aims to enhance disaster preparedness and provide quick, intelligent assistance to users during critical situations.</a:t>
            </a:r>
          </a:p>
        </p:txBody>
      </p:sp>
      <p:pic>
        <p:nvPicPr>
          <p:cNvPr id="1028" name="Picture 4" descr="Designing Multimodal Interactive Dashboard of Disaster Management Systems">
            <a:extLst>
              <a:ext uri="{FF2B5EF4-FFF2-40B4-BE49-F238E27FC236}">
                <a16:creationId xmlns:a16="http://schemas.microsoft.com/office/drawing/2014/main" id="{9105B0F5-89B2-ED29-720E-DE304A098F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181" y="1219103"/>
            <a:ext cx="5680769" cy="488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55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8E20-0F1F-533A-B3E6-5B335EB405BC}"/>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92479C09-0005-7CFF-38D5-4F524062CA0A}"/>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AD30255A-D722-9278-6B86-CDC958DBCE76}"/>
              </a:ext>
            </a:extLst>
          </p:cNvPr>
          <p:cNvSpPr>
            <a:spLocks noGrp="1"/>
          </p:cNvSpPr>
          <p:nvPr>
            <p:ph type="dt" sz="half" idx="10"/>
          </p:nvPr>
        </p:nvSpPr>
        <p:spPr/>
        <p:txBody>
          <a:bodyPr/>
          <a:lstStyle/>
          <a:p>
            <a:fld id="{4F9ED619-C22D-46D8-B505-1861FC119B25}" type="datetime1">
              <a:rPr lang="en-US" smtClean="0"/>
              <a:pPr/>
              <a:t>4/13/2026</a:t>
            </a:fld>
            <a:endParaRPr lang="en-US" dirty="0"/>
          </a:p>
        </p:txBody>
      </p:sp>
      <p:sp>
        <p:nvSpPr>
          <p:cNvPr id="15" name="Slide Number Placeholder 14">
            <a:extLst>
              <a:ext uri="{FF2B5EF4-FFF2-40B4-BE49-F238E27FC236}">
                <a16:creationId xmlns:a16="http://schemas.microsoft.com/office/drawing/2014/main" id="{1B162A4D-077F-7925-923D-1DF42476D28D}"/>
              </a:ext>
            </a:extLst>
          </p:cNvPr>
          <p:cNvSpPr>
            <a:spLocks noGrp="1"/>
          </p:cNvSpPr>
          <p:nvPr>
            <p:ph type="sldNum" sz="quarter" idx="12"/>
          </p:nvPr>
        </p:nvSpPr>
        <p:spPr/>
        <p:txBody>
          <a:bodyPr/>
          <a:lstStyle/>
          <a:p>
            <a:fld id="{6EFE7C99-B088-4EBB-BFF6-BECCC96D5DD8}" type="slidenum">
              <a:rPr lang="en-US" smtClean="0"/>
              <a:pPr/>
              <a:t>4</a:t>
            </a:fld>
            <a:endParaRPr lang="en-US"/>
          </a:p>
        </p:txBody>
      </p:sp>
      <p:sp>
        <p:nvSpPr>
          <p:cNvPr id="10" name="TextBox 9">
            <a:extLst>
              <a:ext uri="{FF2B5EF4-FFF2-40B4-BE49-F238E27FC236}">
                <a16:creationId xmlns:a16="http://schemas.microsoft.com/office/drawing/2014/main" id="{486B023D-D17B-9DDF-D346-3B74179C0858}"/>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0D0112AD-AB0A-FEB7-46DA-462329F16DB6}"/>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C9FA2A23-91A0-84C9-4153-A9CF1165A86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61AC8CE0-431A-86E3-F3A3-CE37478C7257}"/>
                </a:ext>
              </a:extLst>
            </p:cNvPr>
            <p:cNvSpPr txBox="1"/>
            <p:nvPr/>
          </p:nvSpPr>
          <p:spPr>
            <a:xfrm>
              <a:off x="2394530" y="273031"/>
              <a:ext cx="9687560" cy="400110"/>
            </a:xfrm>
            <a:prstGeom prst="rect">
              <a:avLst/>
            </a:prstGeom>
            <a:grpFill/>
          </p:spPr>
          <p:txBody>
            <a:bodyPr wrap="square" rtlCol="0">
              <a:spAutoFit/>
            </a:bodyPr>
            <a:lstStyle/>
            <a:p>
              <a:pPr algn="ctr"/>
              <a:r>
                <a:rPr lang="en-IN" sz="2000" dirty="0"/>
                <a:t>Objectives</a:t>
              </a:r>
              <a:endParaRPr lang="en-US" sz="2000" dirty="0"/>
            </a:p>
          </p:txBody>
        </p:sp>
      </p:grpSp>
      <p:sp>
        <p:nvSpPr>
          <p:cNvPr id="12" name="TextBox 11">
            <a:extLst>
              <a:ext uri="{FF2B5EF4-FFF2-40B4-BE49-F238E27FC236}">
                <a16:creationId xmlns:a16="http://schemas.microsoft.com/office/drawing/2014/main" id="{AE0FB541-98D5-AE56-794F-77214B9F9C2F}"/>
              </a:ext>
            </a:extLst>
          </p:cNvPr>
          <p:cNvSpPr txBox="1"/>
          <p:nvPr/>
        </p:nvSpPr>
        <p:spPr>
          <a:xfrm>
            <a:off x="317642" y="1202390"/>
            <a:ext cx="9927369" cy="646331"/>
          </a:xfrm>
          <a:prstGeom prst="rect">
            <a:avLst/>
          </a:prstGeom>
          <a:noFill/>
        </p:spPr>
        <p:txBody>
          <a:bodyPr wrap="square">
            <a:spAutoFit/>
          </a:bodyPr>
          <a:lstStyle/>
          <a:p>
            <a:pPr marL="285750" indent="-285750">
              <a:buFont typeface="Wingdings" panose="05000000000000000000" pitchFamily="2" charset="2"/>
              <a:buChar char="Ø"/>
            </a:pPr>
            <a:r>
              <a:rPr lang="en-US" dirty="0"/>
              <a:t>To develop an AI-based system that performs </a:t>
            </a:r>
            <a:r>
              <a:rPr lang="en-US" b="1" dirty="0"/>
              <a:t>real-time disaster risk analysis</a:t>
            </a:r>
            <a:r>
              <a:rPr lang="en-US" dirty="0"/>
              <a:t> based on user input.</a:t>
            </a:r>
            <a:endParaRPr lang="en-IN" dirty="0"/>
          </a:p>
        </p:txBody>
      </p:sp>
      <p:sp>
        <p:nvSpPr>
          <p:cNvPr id="19" name="TextBox 18">
            <a:extLst>
              <a:ext uri="{FF2B5EF4-FFF2-40B4-BE49-F238E27FC236}">
                <a16:creationId xmlns:a16="http://schemas.microsoft.com/office/drawing/2014/main" id="{DE70E1F4-5A83-DFC0-F940-DF3AD1241B92}"/>
              </a:ext>
            </a:extLst>
          </p:cNvPr>
          <p:cNvSpPr txBox="1"/>
          <p:nvPr/>
        </p:nvSpPr>
        <p:spPr>
          <a:xfrm>
            <a:off x="317641" y="1952408"/>
            <a:ext cx="9927369" cy="369332"/>
          </a:xfrm>
          <a:prstGeom prst="rect">
            <a:avLst/>
          </a:prstGeom>
          <a:noFill/>
        </p:spPr>
        <p:txBody>
          <a:bodyPr wrap="square">
            <a:spAutoFit/>
          </a:bodyPr>
          <a:lstStyle/>
          <a:p>
            <a:pPr marL="285750" indent="-285750">
              <a:buFont typeface="Wingdings" panose="05000000000000000000" pitchFamily="2" charset="2"/>
              <a:buChar char="Ø"/>
            </a:pPr>
            <a:r>
              <a:rPr lang="en-US" dirty="0"/>
              <a:t>To </a:t>
            </a:r>
            <a:r>
              <a:rPr lang="en-US" b="1" dirty="0"/>
              <a:t>classify disaster risk levels</a:t>
            </a:r>
            <a:r>
              <a:rPr lang="en-US" dirty="0"/>
              <a:t> into Low, Medium, and High using intelligent analysis.</a:t>
            </a:r>
            <a:endParaRPr lang="en-IN" dirty="0"/>
          </a:p>
        </p:txBody>
      </p:sp>
      <p:sp>
        <p:nvSpPr>
          <p:cNvPr id="21" name="TextBox 20">
            <a:extLst>
              <a:ext uri="{FF2B5EF4-FFF2-40B4-BE49-F238E27FC236}">
                <a16:creationId xmlns:a16="http://schemas.microsoft.com/office/drawing/2014/main" id="{016AE47C-1B49-1CB7-2704-B5C1B03AFBAF}"/>
              </a:ext>
            </a:extLst>
          </p:cNvPr>
          <p:cNvSpPr txBox="1"/>
          <p:nvPr/>
        </p:nvSpPr>
        <p:spPr>
          <a:xfrm>
            <a:off x="317641" y="2702426"/>
            <a:ext cx="8863680" cy="369332"/>
          </a:xfrm>
          <a:prstGeom prst="rect">
            <a:avLst/>
          </a:prstGeom>
          <a:noFill/>
        </p:spPr>
        <p:txBody>
          <a:bodyPr wrap="square">
            <a:spAutoFit/>
          </a:bodyPr>
          <a:lstStyle/>
          <a:p>
            <a:pPr marL="285750" indent="-285750">
              <a:buFont typeface="Wingdings" panose="05000000000000000000" pitchFamily="2" charset="2"/>
              <a:buChar char="Ø"/>
            </a:pPr>
            <a:r>
              <a:rPr lang="en-US" dirty="0"/>
              <a:t>To provide </a:t>
            </a:r>
            <a:r>
              <a:rPr lang="en-US" b="1" dirty="0"/>
              <a:t>instant safety measures and precautionary steps</a:t>
            </a:r>
            <a:r>
              <a:rPr lang="en-US" dirty="0"/>
              <a:t> during emergencies.</a:t>
            </a:r>
            <a:endParaRPr lang="en-IN" dirty="0"/>
          </a:p>
        </p:txBody>
      </p:sp>
      <p:sp>
        <p:nvSpPr>
          <p:cNvPr id="23" name="TextBox 22">
            <a:extLst>
              <a:ext uri="{FF2B5EF4-FFF2-40B4-BE49-F238E27FC236}">
                <a16:creationId xmlns:a16="http://schemas.microsoft.com/office/drawing/2014/main" id="{B5B19518-E3E8-8BFD-3AA8-3ED006DE0A92}"/>
              </a:ext>
            </a:extLst>
          </p:cNvPr>
          <p:cNvSpPr txBox="1"/>
          <p:nvPr/>
        </p:nvSpPr>
        <p:spPr>
          <a:xfrm>
            <a:off x="317640" y="3452444"/>
            <a:ext cx="8292959" cy="369332"/>
          </a:xfrm>
          <a:prstGeom prst="rect">
            <a:avLst/>
          </a:prstGeom>
          <a:noFill/>
        </p:spPr>
        <p:txBody>
          <a:bodyPr wrap="square">
            <a:spAutoFit/>
          </a:bodyPr>
          <a:lstStyle/>
          <a:p>
            <a:pPr marL="285750" indent="-285750">
              <a:buFont typeface="Wingdings" panose="05000000000000000000" pitchFamily="2" charset="2"/>
              <a:buChar char="Ø"/>
            </a:pPr>
            <a:r>
              <a:rPr lang="en-US" dirty="0"/>
              <a:t>To display </a:t>
            </a:r>
            <a:r>
              <a:rPr lang="en-US" b="1" dirty="0"/>
              <a:t>relevant emergency contact information</a:t>
            </a:r>
            <a:r>
              <a:rPr lang="en-US" dirty="0"/>
              <a:t> for quick assistance.</a:t>
            </a:r>
            <a:endParaRPr lang="en-IN" dirty="0"/>
          </a:p>
        </p:txBody>
      </p:sp>
      <p:sp>
        <p:nvSpPr>
          <p:cNvPr id="25" name="TextBox 24">
            <a:extLst>
              <a:ext uri="{FF2B5EF4-FFF2-40B4-BE49-F238E27FC236}">
                <a16:creationId xmlns:a16="http://schemas.microsoft.com/office/drawing/2014/main" id="{7878B847-62F9-4C5C-7404-320ACA48CA75}"/>
              </a:ext>
            </a:extLst>
          </p:cNvPr>
          <p:cNvSpPr txBox="1"/>
          <p:nvPr/>
        </p:nvSpPr>
        <p:spPr>
          <a:xfrm>
            <a:off x="317640" y="4222157"/>
            <a:ext cx="8863681" cy="646331"/>
          </a:xfrm>
          <a:prstGeom prst="rect">
            <a:avLst/>
          </a:prstGeom>
          <a:noFill/>
        </p:spPr>
        <p:txBody>
          <a:bodyPr wrap="square">
            <a:spAutoFit/>
          </a:bodyPr>
          <a:lstStyle/>
          <a:p>
            <a:pPr marL="285750" indent="-285750">
              <a:buFont typeface="Wingdings" panose="05000000000000000000" pitchFamily="2" charset="2"/>
              <a:buChar char="Ø"/>
            </a:pPr>
            <a:r>
              <a:rPr lang="en-US" dirty="0"/>
              <a:t>To enhance </a:t>
            </a:r>
            <a:r>
              <a:rPr lang="en-US" b="1" dirty="0"/>
              <a:t>public awareness and disaster preparedness</a:t>
            </a:r>
            <a:r>
              <a:rPr lang="en-US" dirty="0"/>
              <a:t> using artificial intelligence.</a:t>
            </a:r>
            <a:endParaRPr lang="en-IN" dirty="0"/>
          </a:p>
        </p:txBody>
      </p:sp>
      <p:sp>
        <p:nvSpPr>
          <p:cNvPr id="27" name="TextBox 26">
            <a:extLst>
              <a:ext uri="{FF2B5EF4-FFF2-40B4-BE49-F238E27FC236}">
                <a16:creationId xmlns:a16="http://schemas.microsoft.com/office/drawing/2014/main" id="{13C938D3-2A48-4558-B90E-798E3E0FF73F}"/>
              </a:ext>
            </a:extLst>
          </p:cNvPr>
          <p:cNvSpPr txBox="1"/>
          <p:nvPr/>
        </p:nvSpPr>
        <p:spPr>
          <a:xfrm>
            <a:off x="317640" y="5064508"/>
            <a:ext cx="11764449" cy="646331"/>
          </a:xfrm>
          <a:prstGeom prst="rect">
            <a:avLst/>
          </a:prstGeom>
          <a:noFill/>
        </p:spPr>
        <p:txBody>
          <a:bodyPr wrap="square">
            <a:spAutoFit/>
          </a:bodyPr>
          <a:lstStyle/>
          <a:p>
            <a:pPr marL="285750" indent="-285750">
              <a:buFont typeface="Wingdings" panose="05000000000000000000" pitchFamily="2" charset="2"/>
              <a:buChar char="Ø"/>
            </a:pPr>
            <a:r>
              <a:rPr lang="en-US" dirty="0"/>
              <a:t>To provide a </a:t>
            </a:r>
            <a:r>
              <a:rPr lang="en-US" b="1" dirty="0"/>
              <a:t>user-friendly and interactive interface</a:t>
            </a:r>
            <a:r>
              <a:rPr lang="en-US" dirty="0"/>
              <a:t> that allows users to easily input locations and receive disaster alerts.</a:t>
            </a:r>
            <a:endParaRPr lang="en-IN" dirty="0"/>
          </a:p>
        </p:txBody>
      </p:sp>
    </p:spTree>
    <p:extLst>
      <p:ext uri="{BB962C8B-B14F-4D97-AF65-F5344CB8AC3E}">
        <p14:creationId xmlns:p14="http://schemas.microsoft.com/office/powerpoint/2010/main" val="1062629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429C6-A424-B5A7-5CA5-039AD18E8D7E}"/>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B684200A-FF8E-52FF-54AE-2DBA94389E1B}"/>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50D9F0F-DD2C-762B-92D7-CD95395C35EB}"/>
              </a:ext>
            </a:extLst>
          </p:cNvPr>
          <p:cNvSpPr>
            <a:spLocks noGrp="1"/>
          </p:cNvSpPr>
          <p:nvPr>
            <p:ph type="dt" sz="half" idx="10"/>
          </p:nvPr>
        </p:nvSpPr>
        <p:spPr/>
        <p:txBody>
          <a:bodyPr/>
          <a:lstStyle/>
          <a:p>
            <a:fld id="{21E7521A-4C5B-4BFC-B55F-5D1598734E8A}" type="datetime1">
              <a:rPr lang="en-US" smtClean="0"/>
              <a:pPr/>
              <a:t>4/13/2026</a:t>
            </a:fld>
            <a:endParaRPr lang="en-US" dirty="0"/>
          </a:p>
        </p:txBody>
      </p:sp>
      <p:sp>
        <p:nvSpPr>
          <p:cNvPr id="15" name="Slide Number Placeholder 14">
            <a:extLst>
              <a:ext uri="{FF2B5EF4-FFF2-40B4-BE49-F238E27FC236}">
                <a16:creationId xmlns:a16="http://schemas.microsoft.com/office/drawing/2014/main" id="{CB3DD2F3-20A0-34A0-5E46-E2C96757976D}"/>
              </a:ext>
            </a:extLst>
          </p:cNvPr>
          <p:cNvSpPr>
            <a:spLocks noGrp="1"/>
          </p:cNvSpPr>
          <p:nvPr>
            <p:ph type="sldNum" sz="quarter" idx="12"/>
          </p:nvPr>
        </p:nvSpPr>
        <p:spPr/>
        <p:txBody>
          <a:bodyPr/>
          <a:lstStyle/>
          <a:p>
            <a:fld id="{6EFE7C99-B088-4EBB-BFF6-BECCC96D5DD8}" type="slidenum">
              <a:rPr lang="en-US" smtClean="0"/>
              <a:pPr/>
              <a:t>5</a:t>
            </a:fld>
            <a:endParaRPr lang="en-US"/>
          </a:p>
        </p:txBody>
      </p:sp>
      <p:sp>
        <p:nvSpPr>
          <p:cNvPr id="10" name="TextBox 9">
            <a:extLst>
              <a:ext uri="{FF2B5EF4-FFF2-40B4-BE49-F238E27FC236}">
                <a16:creationId xmlns:a16="http://schemas.microsoft.com/office/drawing/2014/main" id="{62170669-356A-5E2A-A02B-9B92DE7F2A9D}"/>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492C34B-0BBB-B675-0892-47F2CD11C9F5}"/>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9DEA27B0-CC12-A3A1-213E-02B6C2D7802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5E50391-8EF4-DB99-2D5F-611D67F1DD5E}"/>
                </a:ext>
              </a:extLst>
            </p:cNvPr>
            <p:cNvSpPr txBox="1"/>
            <p:nvPr/>
          </p:nvSpPr>
          <p:spPr>
            <a:xfrm>
              <a:off x="2394530" y="273031"/>
              <a:ext cx="9687560" cy="400110"/>
            </a:xfrm>
            <a:prstGeom prst="rect">
              <a:avLst/>
            </a:prstGeom>
            <a:grpFill/>
          </p:spPr>
          <p:txBody>
            <a:bodyPr wrap="square" rtlCol="0">
              <a:spAutoFit/>
            </a:bodyPr>
            <a:lstStyle/>
            <a:p>
              <a:pPr algn="ctr"/>
              <a:r>
                <a:rPr lang="en-IN" sz="2000" dirty="0"/>
                <a:t>Stakeholders</a:t>
              </a:r>
              <a:endParaRPr lang="en-US" sz="2000" dirty="0"/>
            </a:p>
          </p:txBody>
        </p:sp>
      </p:grpSp>
      <p:sp>
        <p:nvSpPr>
          <p:cNvPr id="6" name="TextBox 5">
            <a:extLst>
              <a:ext uri="{FF2B5EF4-FFF2-40B4-BE49-F238E27FC236}">
                <a16:creationId xmlns:a16="http://schemas.microsoft.com/office/drawing/2014/main" id="{0E7F2771-F2CA-D609-47E0-8EF2E3D0EEF0}"/>
              </a:ext>
            </a:extLst>
          </p:cNvPr>
          <p:cNvSpPr txBox="1"/>
          <p:nvPr/>
        </p:nvSpPr>
        <p:spPr>
          <a:xfrm>
            <a:off x="317643" y="1331558"/>
            <a:ext cx="6097554" cy="369332"/>
          </a:xfrm>
          <a:prstGeom prst="rect">
            <a:avLst/>
          </a:prstGeom>
          <a:noFill/>
        </p:spPr>
        <p:txBody>
          <a:bodyPr wrap="square">
            <a:spAutoFit/>
          </a:bodyPr>
          <a:lstStyle/>
          <a:p>
            <a:r>
              <a:rPr lang="en-IN" b="1" dirty="0">
                <a:solidFill>
                  <a:srgbClr val="FF0000"/>
                </a:solidFill>
              </a:rPr>
              <a:t>General Public:</a:t>
            </a:r>
          </a:p>
        </p:txBody>
      </p:sp>
      <p:sp>
        <p:nvSpPr>
          <p:cNvPr id="9" name="TextBox 8">
            <a:extLst>
              <a:ext uri="{FF2B5EF4-FFF2-40B4-BE49-F238E27FC236}">
                <a16:creationId xmlns:a16="http://schemas.microsoft.com/office/drawing/2014/main" id="{0D07FC24-0D4A-5754-30FE-B35356992ADB}"/>
              </a:ext>
            </a:extLst>
          </p:cNvPr>
          <p:cNvSpPr txBox="1"/>
          <p:nvPr/>
        </p:nvSpPr>
        <p:spPr>
          <a:xfrm>
            <a:off x="317643" y="1700890"/>
            <a:ext cx="11707200" cy="646331"/>
          </a:xfrm>
          <a:prstGeom prst="rect">
            <a:avLst/>
          </a:prstGeom>
          <a:noFill/>
        </p:spPr>
        <p:txBody>
          <a:bodyPr wrap="square">
            <a:spAutoFit/>
          </a:bodyPr>
          <a:lstStyle/>
          <a:p>
            <a:r>
              <a:rPr lang="en-US" dirty="0"/>
              <a:t>The primary users of the system who receive real-time disaster alerts, risk levels, and safety instructions to protect themselves during emergencies.</a:t>
            </a:r>
            <a:endParaRPr lang="en-IN" dirty="0"/>
          </a:p>
        </p:txBody>
      </p:sp>
      <p:sp>
        <p:nvSpPr>
          <p:cNvPr id="12" name="TextBox 11">
            <a:extLst>
              <a:ext uri="{FF2B5EF4-FFF2-40B4-BE49-F238E27FC236}">
                <a16:creationId xmlns:a16="http://schemas.microsoft.com/office/drawing/2014/main" id="{C1289312-3212-5B98-E70B-ABD17D5A1963}"/>
              </a:ext>
            </a:extLst>
          </p:cNvPr>
          <p:cNvSpPr txBox="1"/>
          <p:nvPr/>
        </p:nvSpPr>
        <p:spPr>
          <a:xfrm>
            <a:off x="317643" y="2493039"/>
            <a:ext cx="6097554" cy="369332"/>
          </a:xfrm>
          <a:prstGeom prst="rect">
            <a:avLst/>
          </a:prstGeom>
          <a:noFill/>
        </p:spPr>
        <p:txBody>
          <a:bodyPr wrap="square">
            <a:spAutoFit/>
          </a:bodyPr>
          <a:lstStyle/>
          <a:p>
            <a:r>
              <a:rPr lang="en-IN" b="1" dirty="0">
                <a:solidFill>
                  <a:srgbClr val="0070C0"/>
                </a:solidFill>
              </a:rPr>
              <a:t>Disaster Management Authorities:</a:t>
            </a:r>
          </a:p>
        </p:txBody>
      </p:sp>
      <p:sp>
        <p:nvSpPr>
          <p:cNvPr id="16" name="TextBox 15">
            <a:extLst>
              <a:ext uri="{FF2B5EF4-FFF2-40B4-BE49-F238E27FC236}">
                <a16:creationId xmlns:a16="http://schemas.microsoft.com/office/drawing/2014/main" id="{D42CAB1D-FA54-25A5-458D-B77A6CE4D287}"/>
              </a:ext>
            </a:extLst>
          </p:cNvPr>
          <p:cNvSpPr txBox="1"/>
          <p:nvPr/>
        </p:nvSpPr>
        <p:spPr>
          <a:xfrm>
            <a:off x="317643" y="2862371"/>
            <a:ext cx="11764447" cy="646331"/>
          </a:xfrm>
          <a:prstGeom prst="rect">
            <a:avLst/>
          </a:prstGeom>
          <a:noFill/>
        </p:spPr>
        <p:txBody>
          <a:bodyPr wrap="square">
            <a:spAutoFit/>
          </a:bodyPr>
          <a:lstStyle/>
          <a:p>
            <a:r>
              <a:rPr lang="en-US" dirty="0"/>
              <a:t>Organizations responsible for planning and responding to disasters. They can use this system for quick decision-making and efficient coordination.</a:t>
            </a:r>
            <a:endParaRPr lang="en-IN" dirty="0"/>
          </a:p>
        </p:txBody>
      </p:sp>
      <p:sp>
        <p:nvSpPr>
          <p:cNvPr id="22" name="TextBox 21">
            <a:extLst>
              <a:ext uri="{FF2B5EF4-FFF2-40B4-BE49-F238E27FC236}">
                <a16:creationId xmlns:a16="http://schemas.microsoft.com/office/drawing/2014/main" id="{1669488E-A896-2B05-E37A-4ABA79B7AB48}"/>
              </a:ext>
            </a:extLst>
          </p:cNvPr>
          <p:cNvSpPr txBox="1"/>
          <p:nvPr/>
        </p:nvSpPr>
        <p:spPr>
          <a:xfrm>
            <a:off x="317643" y="3659457"/>
            <a:ext cx="6097554" cy="369332"/>
          </a:xfrm>
          <a:prstGeom prst="rect">
            <a:avLst/>
          </a:prstGeom>
          <a:noFill/>
        </p:spPr>
        <p:txBody>
          <a:bodyPr wrap="square">
            <a:spAutoFit/>
          </a:bodyPr>
          <a:lstStyle/>
          <a:p>
            <a:r>
              <a:rPr lang="en-IN" b="1" dirty="0">
                <a:solidFill>
                  <a:schemeClr val="accent1">
                    <a:lumMod val="75000"/>
                  </a:schemeClr>
                </a:solidFill>
              </a:rPr>
              <a:t>Government Agencies:</a:t>
            </a:r>
          </a:p>
        </p:txBody>
      </p:sp>
      <p:sp>
        <p:nvSpPr>
          <p:cNvPr id="24" name="TextBox 23">
            <a:extLst>
              <a:ext uri="{FF2B5EF4-FFF2-40B4-BE49-F238E27FC236}">
                <a16:creationId xmlns:a16="http://schemas.microsoft.com/office/drawing/2014/main" id="{94AA8A52-D815-D8B6-2216-CD4C41F21D2A}"/>
              </a:ext>
            </a:extLst>
          </p:cNvPr>
          <p:cNvSpPr txBox="1"/>
          <p:nvPr/>
        </p:nvSpPr>
        <p:spPr>
          <a:xfrm>
            <a:off x="317643" y="4049115"/>
            <a:ext cx="11707200" cy="646331"/>
          </a:xfrm>
          <a:prstGeom prst="rect">
            <a:avLst/>
          </a:prstGeom>
          <a:noFill/>
        </p:spPr>
        <p:txBody>
          <a:bodyPr wrap="square">
            <a:spAutoFit/>
          </a:bodyPr>
          <a:lstStyle/>
          <a:p>
            <a:r>
              <a:rPr lang="en-US" dirty="0"/>
              <a:t>Authorities that implement safety policies and provide resources during disasters. The system helps them improve public safety and communication</a:t>
            </a:r>
            <a:endParaRPr lang="en-IN" dirty="0"/>
          </a:p>
        </p:txBody>
      </p:sp>
      <p:sp>
        <p:nvSpPr>
          <p:cNvPr id="26" name="TextBox 25">
            <a:extLst>
              <a:ext uri="{FF2B5EF4-FFF2-40B4-BE49-F238E27FC236}">
                <a16:creationId xmlns:a16="http://schemas.microsoft.com/office/drawing/2014/main" id="{13D8F70D-B963-2A06-18A7-FCDE55714FB8}"/>
              </a:ext>
            </a:extLst>
          </p:cNvPr>
          <p:cNvSpPr txBox="1"/>
          <p:nvPr/>
        </p:nvSpPr>
        <p:spPr>
          <a:xfrm>
            <a:off x="317643" y="4952112"/>
            <a:ext cx="6097554" cy="369332"/>
          </a:xfrm>
          <a:prstGeom prst="rect">
            <a:avLst/>
          </a:prstGeom>
          <a:noFill/>
        </p:spPr>
        <p:txBody>
          <a:bodyPr wrap="square">
            <a:spAutoFit/>
          </a:bodyPr>
          <a:lstStyle/>
          <a:p>
            <a:r>
              <a:rPr lang="en-US" b="1" dirty="0"/>
              <a:t>Emergency Services (Fire, Ambulance, Rescue Teams):</a:t>
            </a:r>
            <a:endParaRPr lang="en-IN" b="1" dirty="0"/>
          </a:p>
        </p:txBody>
      </p:sp>
      <p:sp>
        <p:nvSpPr>
          <p:cNvPr id="28" name="TextBox 27">
            <a:extLst>
              <a:ext uri="{FF2B5EF4-FFF2-40B4-BE49-F238E27FC236}">
                <a16:creationId xmlns:a16="http://schemas.microsoft.com/office/drawing/2014/main" id="{6B3B9352-8423-9DA6-1B71-F3501DD4D479}"/>
              </a:ext>
            </a:extLst>
          </p:cNvPr>
          <p:cNvSpPr txBox="1"/>
          <p:nvPr/>
        </p:nvSpPr>
        <p:spPr>
          <a:xfrm>
            <a:off x="317642" y="5377232"/>
            <a:ext cx="11764447" cy="646331"/>
          </a:xfrm>
          <a:prstGeom prst="rect">
            <a:avLst/>
          </a:prstGeom>
          <a:noFill/>
        </p:spPr>
        <p:txBody>
          <a:bodyPr wrap="square">
            <a:spAutoFit/>
          </a:bodyPr>
          <a:lstStyle/>
          <a:p>
            <a:r>
              <a:rPr lang="en-US" dirty="0"/>
              <a:t>First responders who act during critical situations. The application provides quick access to emergency contacts and supports faster response.</a:t>
            </a:r>
            <a:endParaRPr lang="en-IN" dirty="0"/>
          </a:p>
        </p:txBody>
      </p:sp>
    </p:spTree>
    <p:extLst>
      <p:ext uri="{BB962C8B-B14F-4D97-AF65-F5344CB8AC3E}">
        <p14:creationId xmlns:p14="http://schemas.microsoft.com/office/powerpoint/2010/main" val="1166232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6872-20A9-21AA-2F5F-C392669C22B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67EC7F8D-E757-6011-4D7C-FEE349CF43C2}"/>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806D6FD-73B2-9687-4191-B1B3CE6AB94E}"/>
              </a:ext>
            </a:extLst>
          </p:cNvPr>
          <p:cNvSpPr>
            <a:spLocks noGrp="1"/>
          </p:cNvSpPr>
          <p:nvPr>
            <p:ph type="dt" sz="half" idx="10"/>
          </p:nvPr>
        </p:nvSpPr>
        <p:spPr/>
        <p:txBody>
          <a:bodyPr/>
          <a:lstStyle/>
          <a:p>
            <a:fld id="{535AB5AF-FBC9-407D-9DA3-640E1598FAD2}" type="datetime1">
              <a:rPr lang="en-US" smtClean="0"/>
              <a:pPr/>
              <a:t>4/13/2026</a:t>
            </a:fld>
            <a:endParaRPr lang="en-US" dirty="0"/>
          </a:p>
        </p:txBody>
      </p:sp>
      <p:sp>
        <p:nvSpPr>
          <p:cNvPr id="15" name="Slide Number Placeholder 14">
            <a:extLst>
              <a:ext uri="{FF2B5EF4-FFF2-40B4-BE49-F238E27FC236}">
                <a16:creationId xmlns:a16="http://schemas.microsoft.com/office/drawing/2014/main" id="{42E68F9A-E8CB-2664-57BF-8CB5E321B266}"/>
              </a:ext>
            </a:extLst>
          </p:cNvPr>
          <p:cNvSpPr>
            <a:spLocks noGrp="1"/>
          </p:cNvSpPr>
          <p:nvPr>
            <p:ph type="sldNum" sz="quarter" idx="12"/>
          </p:nvPr>
        </p:nvSpPr>
        <p:spPr/>
        <p:txBody>
          <a:bodyPr/>
          <a:lstStyle/>
          <a:p>
            <a:fld id="{6EFE7C99-B088-4EBB-BFF6-BECCC96D5DD8}" type="slidenum">
              <a:rPr lang="en-US" smtClean="0"/>
              <a:pPr/>
              <a:t>6</a:t>
            </a:fld>
            <a:endParaRPr lang="en-US" dirty="0"/>
          </a:p>
        </p:txBody>
      </p:sp>
      <p:sp>
        <p:nvSpPr>
          <p:cNvPr id="10" name="TextBox 9">
            <a:extLst>
              <a:ext uri="{FF2B5EF4-FFF2-40B4-BE49-F238E27FC236}">
                <a16:creationId xmlns:a16="http://schemas.microsoft.com/office/drawing/2014/main" id="{C4E8FB54-03CF-E846-FA8C-A131E93B0679}"/>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CF5F305E-18C3-8B10-D943-F8AD77F222CB}"/>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4ECB48FC-941E-DC63-F20F-854DBD90DD5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6D6C8CA-C8BF-44C9-BC0E-FAF59B03E0B0}"/>
                </a:ext>
              </a:extLst>
            </p:cNvPr>
            <p:cNvSpPr txBox="1"/>
            <p:nvPr/>
          </p:nvSpPr>
          <p:spPr>
            <a:xfrm>
              <a:off x="2394530" y="273031"/>
              <a:ext cx="9687560" cy="400110"/>
            </a:xfrm>
            <a:prstGeom prst="rect">
              <a:avLst/>
            </a:prstGeom>
            <a:grpFill/>
          </p:spPr>
          <p:txBody>
            <a:bodyPr wrap="square" rtlCol="0">
              <a:spAutoFit/>
            </a:bodyPr>
            <a:lstStyle/>
            <a:p>
              <a:pPr algn="ctr"/>
              <a:r>
                <a:rPr lang="en-US" sz="2000" dirty="0"/>
                <a:t>🛠️ Programming Languages, Tools &amp; Software</a:t>
              </a:r>
            </a:p>
          </p:txBody>
        </p:sp>
      </p:grpSp>
      <p:sp>
        <p:nvSpPr>
          <p:cNvPr id="4" name="Rectangle: Rounded Corners 3">
            <a:extLst>
              <a:ext uri="{FF2B5EF4-FFF2-40B4-BE49-F238E27FC236}">
                <a16:creationId xmlns:a16="http://schemas.microsoft.com/office/drawing/2014/main" id="{CE26AA11-32A2-AD83-6AD6-4F62D9F39CD6}"/>
              </a:ext>
            </a:extLst>
          </p:cNvPr>
          <p:cNvSpPr/>
          <p:nvPr/>
        </p:nvSpPr>
        <p:spPr>
          <a:xfrm>
            <a:off x="60377" y="1530220"/>
            <a:ext cx="2491271" cy="4376058"/>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dirty="0"/>
              <a:t>JavaScript </a:t>
            </a:r>
          </a:p>
          <a:p>
            <a:pPr marL="285750" indent="-285750">
              <a:buFont typeface="Wingdings" panose="05000000000000000000" pitchFamily="2" charset="2"/>
              <a:buChar char="§"/>
            </a:pPr>
            <a:r>
              <a:rPr lang="en-IN" dirty="0"/>
              <a:t>HTML </a:t>
            </a:r>
          </a:p>
          <a:p>
            <a:pPr marL="285750" indent="-285750">
              <a:buFont typeface="Wingdings" panose="05000000000000000000" pitchFamily="2" charset="2"/>
              <a:buChar char="§"/>
            </a:pPr>
            <a:r>
              <a:rPr lang="en-IN" dirty="0"/>
              <a:t>CSS </a:t>
            </a:r>
          </a:p>
          <a:p>
            <a:endParaRPr lang="en-IN" dirty="0"/>
          </a:p>
        </p:txBody>
      </p:sp>
      <p:sp>
        <p:nvSpPr>
          <p:cNvPr id="6" name="Rectangle: Rounded Corners 5">
            <a:extLst>
              <a:ext uri="{FF2B5EF4-FFF2-40B4-BE49-F238E27FC236}">
                <a16:creationId xmlns:a16="http://schemas.microsoft.com/office/drawing/2014/main" id="{E85208AA-CD8F-0D1E-B2C0-B81AD04E7B70}"/>
              </a:ext>
            </a:extLst>
          </p:cNvPr>
          <p:cNvSpPr/>
          <p:nvPr/>
        </p:nvSpPr>
        <p:spPr>
          <a:xfrm>
            <a:off x="3368352" y="1530219"/>
            <a:ext cx="2491272" cy="43760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FB291EAF-2C13-2A47-AEAA-D2EEC6577A76}"/>
              </a:ext>
            </a:extLst>
          </p:cNvPr>
          <p:cNvSpPr/>
          <p:nvPr/>
        </p:nvSpPr>
        <p:spPr>
          <a:xfrm>
            <a:off x="6746033" y="1530219"/>
            <a:ext cx="2565918" cy="43760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B85C92A2-48A4-195B-C0F5-FCADCFBAE3AB}"/>
              </a:ext>
            </a:extLst>
          </p:cNvPr>
          <p:cNvSpPr/>
          <p:nvPr/>
        </p:nvSpPr>
        <p:spPr>
          <a:xfrm>
            <a:off x="9797144" y="1530219"/>
            <a:ext cx="2284946" cy="43760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6C71809-E7CB-8305-84C8-B660A6A199FA}"/>
              </a:ext>
            </a:extLst>
          </p:cNvPr>
          <p:cNvSpPr txBox="1"/>
          <p:nvPr/>
        </p:nvSpPr>
        <p:spPr>
          <a:xfrm>
            <a:off x="317643" y="1866122"/>
            <a:ext cx="1719435" cy="369332"/>
          </a:xfrm>
          <a:prstGeom prst="rect">
            <a:avLst/>
          </a:prstGeom>
          <a:noFill/>
        </p:spPr>
        <p:txBody>
          <a:bodyPr wrap="square" rtlCol="0">
            <a:spAutoFit/>
          </a:bodyPr>
          <a:lstStyle/>
          <a:p>
            <a:r>
              <a:rPr lang="en-IN" dirty="0"/>
              <a:t>💻 Languages</a:t>
            </a:r>
          </a:p>
        </p:txBody>
      </p:sp>
      <p:sp>
        <p:nvSpPr>
          <p:cNvPr id="18" name="TextBox 17">
            <a:extLst>
              <a:ext uri="{FF2B5EF4-FFF2-40B4-BE49-F238E27FC236}">
                <a16:creationId xmlns:a16="http://schemas.microsoft.com/office/drawing/2014/main" id="{623EDC93-AC6D-32E0-C5ED-E7A96AFC6073}"/>
              </a:ext>
            </a:extLst>
          </p:cNvPr>
          <p:cNvSpPr txBox="1"/>
          <p:nvPr/>
        </p:nvSpPr>
        <p:spPr>
          <a:xfrm>
            <a:off x="3685592" y="1866122"/>
            <a:ext cx="1931437" cy="369332"/>
          </a:xfrm>
          <a:prstGeom prst="rect">
            <a:avLst/>
          </a:prstGeom>
          <a:noFill/>
        </p:spPr>
        <p:txBody>
          <a:bodyPr wrap="square" rtlCol="0">
            <a:spAutoFit/>
          </a:bodyPr>
          <a:lstStyle/>
          <a:p>
            <a:r>
              <a:rPr lang="en-IN" dirty="0"/>
              <a:t>🎨 Frontend</a:t>
            </a:r>
          </a:p>
        </p:txBody>
      </p:sp>
      <p:sp>
        <p:nvSpPr>
          <p:cNvPr id="21" name="TextBox 20">
            <a:extLst>
              <a:ext uri="{FF2B5EF4-FFF2-40B4-BE49-F238E27FC236}">
                <a16:creationId xmlns:a16="http://schemas.microsoft.com/office/drawing/2014/main" id="{AE1F715F-04D2-17F3-8F26-4E4D765B982B}"/>
              </a:ext>
            </a:extLst>
          </p:cNvPr>
          <p:cNvSpPr txBox="1"/>
          <p:nvPr/>
        </p:nvSpPr>
        <p:spPr>
          <a:xfrm>
            <a:off x="3464767" y="2990461"/>
            <a:ext cx="2245568" cy="64633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FFFFFF"/>
                </a:solidFill>
              </a:rPr>
              <a:t>React.js</a:t>
            </a:r>
          </a:p>
          <a:p>
            <a:pPr marL="285750" indent="-285750">
              <a:buFont typeface="Arial" panose="020B0604020202020204" pitchFamily="34" charset="0"/>
              <a:buChar char="•"/>
            </a:pPr>
            <a:r>
              <a:rPr lang="en-IN" dirty="0">
                <a:solidFill>
                  <a:srgbClr val="FFFFFF"/>
                </a:solidFill>
              </a:rPr>
              <a:t>Vite</a:t>
            </a:r>
          </a:p>
        </p:txBody>
      </p:sp>
      <p:sp>
        <p:nvSpPr>
          <p:cNvPr id="23" name="TextBox 22">
            <a:extLst>
              <a:ext uri="{FF2B5EF4-FFF2-40B4-BE49-F238E27FC236}">
                <a16:creationId xmlns:a16="http://schemas.microsoft.com/office/drawing/2014/main" id="{3891DD40-5DB6-0FCE-B849-930BAE55E747}"/>
              </a:ext>
            </a:extLst>
          </p:cNvPr>
          <p:cNvSpPr txBox="1"/>
          <p:nvPr/>
        </p:nvSpPr>
        <p:spPr>
          <a:xfrm>
            <a:off x="7109927" y="1866122"/>
            <a:ext cx="1912775" cy="369332"/>
          </a:xfrm>
          <a:prstGeom prst="rect">
            <a:avLst/>
          </a:prstGeom>
          <a:noFill/>
        </p:spPr>
        <p:txBody>
          <a:bodyPr wrap="square" rtlCol="0">
            <a:spAutoFit/>
          </a:bodyPr>
          <a:lstStyle/>
          <a:p>
            <a:r>
              <a:rPr lang="en-IN" dirty="0"/>
              <a:t>⚙️ Backend</a:t>
            </a:r>
          </a:p>
        </p:txBody>
      </p:sp>
      <p:sp>
        <p:nvSpPr>
          <p:cNvPr id="24" name="TextBox 23">
            <a:extLst>
              <a:ext uri="{FF2B5EF4-FFF2-40B4-BE49-F238E27FC236}">
                <a16:creationId xmlns:a16="http://schemas.microsoft.com/office/drawing/2014/main" id="{DE45A699-DFC6-36DD-F330-C65A9D177326}"/>
              </a:ext>
            </a:extLst>
          </p:cNvPr>
          <p:cNvSpPr txBox="1"/>
          <p:nvPr/>
        </p:nvSpPr>
        <p:spPr>
          <a:xfrm>
            <a:off x="7109926" y="2937748"/>
            <a:ext cx="1912775" cy="64633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FFFFFF"/>
                </a:solidFill>
              </a:rPr>
              <a:t>Node.js</a:t>
            </a:r>
          </a:p>
          <a:p>
            <a:pPr marL="285750" indent="-285750">
              <a:buFont typeface="Arial" panose="020B0604020202020204" pitchFamily="34" charset="0"/>
              <a:buChar char="•"/>
            </a:pPr>
            <a:r>
              <a:rPr lang="en-IN" dirty="0">
                <a:solidFill>
                  <a:srgbClr val="FFFFFF"/>
                </a:solidFill>
              </a:rPr>
              <a:t>Express.js</a:t>
            </a:r>
          </a:p>
        </p:txBody>
      </p:sp>
      <p:sp>
        <p:nvSpPr>
          <p:cNvPr id="26" name="TextBox 25">
            <a:extLst>
              <a:ext uri="{FF2B5EF4-FFF2-40B4-BE49-F238E27FC236}">
                <a16:creationId xmlns:a16="http://schemas.microsoft.com/office/drawing/2014/main" id="{2C218612-FC3C-1207-5C34-4917247FFE16}"/>
              </a:ext>
            </a:extLst>
          </p:cNvPr>
          <p:cNvSpPr txBox="1"/>
          <p:nvPr/>
        </p:nvSpPr>
        <p:spPr>
          <a:xfrm>
            <a:off x="10133045" y="1866122"/>
            <a:ext cx="1819469" cy="369332"/>
          </a:xfrm>
          <a:prstGeom prst="rect">
            <a:avLst/>
          </a:prstGeom>
          <a:noFill/>
        </p:spPr>
        <p:txBody>
          <a:bodyPr wrap="square" rtlCol="0">
            <a:spAutoFit/>
          </a:bodyPr>
          <a:lstStyle/>
          <a:p>
            <a:r>
              <a:rPr lang="en-IN" dirty="0"/>
              <a:t>🧰 Tools</a:t>
            </a:r>
          </a:p>
        </p:txBody>
      </p:sp>
      <p:sp>
        <p:nvSpPr>
          <p:cNvPr id="28" name="TextBox 27">
            <a:extLst>
              <a:ext uri="{FF2B5EF4-FFF2-40B4-BE49-F238E27FC236}">
                <a16:creationId xmlns:a16="http://schemas.microsoft.com/office/drawing/2014/main" id="{0CCA632C-22D6-C9D2-EAC9-C5F7D7E4CC0D}"/>
              </a:ext>
            </a:extLst>
          </p:cNvPr>
          <p:cNvSpPr txBox="1"/>
          <p:nvPr/>
        </p:nvSpPr>
        <p:spPr>
          <a:xfrm>
            <a:off x="9982200" y="2937748"/>
            <a:ext cx="2042643" cy="923330"/>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FFFFFF"/>
                </a:solidFill>
              </a:rPr>
              <a:t>Leaflet</a:t>
            </a:r>
          </a:p>
          <a:p>
            <a:pPr marL="285750" indent="-285750">
              <a:buFont typeface="Arial" panose="020B0604020202020204" pitchFamily="34" charset="0"/>
              <a:buChar char="•"/>
            </a:pPr>
            <a:r>
              <a:rPr lang="en-IN" dirty="0">
                <a:solidFill>
                  <a:srgbClr val="FFFFFF"/>
                </a:solidFill>
              </a:rPr>
              <a:t>Axios</a:t>
            </a:r>
          </a:p>
          <a:p>
            <a:pPr marL="285750" indent="-285750">
              <a:buFont typeface="Arial" panose="020B0604020202020204" pitchFamily="34" charset="0"/>
              <a:buChar char="•"/>
            </a:pPr>
            <a:r>
              <a:rPr lang="en-IN" dirty="0">
                <a:solidFill>
                  <a:srgbClr val="FFFFFF"/>
                </a:solidFill>
              </a:rPr>
              <a:t>Framer Motion</a:t>
            </a:r>
          </a:p>
        </p:txBody>
      </p:sp>
    </p:spTree>
    <p:extLst>
      <p:ext uri="{BB962C8B-B14F-4D97-AF65-F5344CB8AC3E}">
        <p14:creationId xmlns:p14="http://schemas.microsoft.com/office/powerpoint/2010/main" val="22441362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2"/>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1E343A7F-3E41-4ABB-ABCA-D95CBF67BC73}"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7</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94530" y="273031"/>
              <a:ext cx="9687560" cy="400110"/>
            </a:xfrm>
            <a:prstGeom prst="rect">
              <a:avLst/>
            </a:prstGeom>
            <a:grpFill/>
          </p:spPr>
          <p:txBody>
            <a:bodyPr wrap="square" rtlCol="0">
              <a:spAutoFit/>
            </a:bodyPr>
            <a:lstStyle/>
            <a:p>
              <a:pPr algn="ctr"/>
              <a:r>
                <a:rPr lang="en-IN" sz="2000" dirty="0"/>
                <a:t>AI Prompts Used to Generate Code </a:t>
              </a:r>
              <a:r>
                <a:rPr lang="en-IN" sz="2000" dirty="0">
                  <a:solidFill>
                    <a:schemeClr val="bg2"/>
                  </a:solidFill>
                </a:rPr>
                <a:t>(PART 1)</a:t>
              </a:r>
              <a:endParaRPr lang="en-US" sz="2000" dirty="0">
                <a:solidFill>
                  <a:schemeClr val="bg2"/>
                </a:solidFill>
              </a:endParaRPr>
            </a:p>
          </p:txBody>
        </p:sp>
      </p:grpSp>
      <p:sp>
        <p:nvSpPr>
          <p:cNvPr id="8" name="TextBox 7">
            <a:extLst>
              <a:ext uri="{FF2B5EF4-FFF2-40B4-BE49-F238E27FC236}">
                <a16:creationId xmlns:a16="http://schemas.microsoft.com/office/drawing/2014/main" id="{3B2C8A9B-B57B-8229-DECC-D13D21AC99CE}"/>
              </a:ext>
            </a:extLst>
          </p:cNvPr>
          <p:cNvSpPr txBox="1"/>
          <p:nvPr/>
        </p:nvSpPr>
        <p:spPr>
          <a:xfrm>
            <a:off x="0" y="960371"/>
            <a:ext cx="12026397" cy="646331"/>
          </a:xfrm>
          <a:prstGeom prst="rect">
            <a:avLst/>
          </a:prstGeom>
          <a:noFill/>
        </p:spPr>
        <p:txBody>
          <a:bodyPr wrap="square">
            <a:spAutoFit/>
          </a:bodyPr>
          <a:lstStyle/>
          <a:p>
            <a:r>
              <a:rPr lang="en-IN" dirty="0">
                <a:solidFill>
                  <a:srgbClr val="7030A0"/>
                </a:solidFill>
              </a:rPr>
              <a:t>🧠 Main System Prompt:</a:t>
            </a:r>
          </a:p>
          <a:p>
            <a:r>
              <a:rPr lang="en-US" dirty="0">
                <a:solidFill>
                  <a:srgbClr val="7030A0"/>
                </a:solidFill>
              </a:rPr>
              <a:t>We are using a structured AI prompt to simulate real-time disaster intelligence and safety guidance.</a:t>
            </a:r>
            <a:endParaRPr lang="en-IN" dirty="0">
              <a:solidFill>
                <a:srgbClr val="7030A0"/>
              </a:solidFill>
            </a:endParaRPr>
          </a:p>
        </p:txBody>
      </p:sp>
      <p:sp>
        <p:nvSpPr>
          <p:cNvPr id="12" name="TextBox 11">
            <a:extLst>
              <a:ext uri="{FF2B5EF4-FFF2-40B4-BE49-F238E27FC236}">
                <a16:creationId xmlns:a16="http://schemas.microsoft.com/office/drawing/2014/main" id="{AFEE6003-4683-57D7-4EDF-5327172FD423}"/>
              </a:ext>
            </a:extLst>
          </p:cNvPr>
          <p:cNvSpPr txBox="1"/>
          <p:nvPr/>
        </p:nvSpPr>
        <p:spPr>
          <a:xfrm>
            <a:off x="-107682" y="1606702"/>
            <a:ext cx="6120880" cy="369332"/>
          </a:xfrm>
          <a:prstGeom prst="rect">
            <a:avLst/>
          </a:prstGeom>
          <a:noFill/>
        </p:spPr>
        <p:txBody>
          <a:bodyPr wrap="square">
            <a:spAutoFit/>
          </a:bodyPr>
          <a:lstStyle/>
          <a:p>
            <a:r>
              <a:rPr lang="en-IN" dirty="0"/>
              <a:t>💻 Code Generation Prompts</a:t>
            </a:r>
          </a:p>
        </p:txBody>
      </p:sp>
      <p:sp>
        <p:nvSpPr>
          <p:cNvPr id="16" name="TextBox 15">
            <a:extLst>
              <a:ext uri="{FF2B5EF4-FFF2-40B4-BE49-F238E27FC236}">
                <a16:creationId xmlns:a16="http://schemas.microsoft.com/office/drawing/2014/main" id="{7881E660-A7CD-86D7-77FC-193CD19731AD}"/>
              </a:ext>
            </a:extLst>
          </p:cNvPr>
          <p:cNvSpPr txBox="1"/>
          <p:nvPr/>
        </p:nvSpPr>
        <p:spPr>
          <a:xfrm>
            <a:off x="-25764" y="1893802"/>
            <a:ext cx="12217764" cy="646331"/>
          </a:xfrm>
          <a:prstGeom prst="rect">
            <a:avLst/>
          </a:prstGeom>
          <a:noFill/>
        </p:spPr>
        <p:txBody>
          <a:bodyPr wrap="square">
            <a:spAutoFit/>
          </a:bodyPr>
          <a:lstStyle/>
          <a:p>
            <a:r>
              <a:rPr lang="en-IN" dirty="0"/>
              <a:t>🔹 1. </a:t>
            </a:r>
            <a:r>
              <a:rPr lang="en-IN" dirty="0">
                <a:solidFill>
                  <a:srgbClr val="FFCC00"/>
                </a:solidFill>
              </a:rPr>
              <a:t>Frontend UI Prompt:</a:t>
            </a:r>
          </a:p>
          <a:p>
            <a:r>
              <a:rPr lang="en-US" dirty="0"/>
              <a:t>Create a modern AI disaster alert dashboard using HTML, CSS, and JavaScript with dark theme and glass morphism design.</a:t>
            </a:r>
            <a:endParaRPr lang="en-IN" dirty="0"/>
          </a:p>
        </p:txBody>
      </p:sp>
      <p:sp>
        <p:nvSpPr>
          <p:cNvPr id="18" name="TextBox 17">
            <a:extLst>
              <a:ext uri="{FF2B5EF4-FFF2-40B4-BE49-F238E27FC236}">
                <a16:creationId xmlns:a16="http://schemas.microsoft.com/office/drawing/2014/main" id="{C0CA8DAC-4463-D6BC-BEA2-5F098F679698}"/>
              </a:ext>
            </a:extLst>
          </p:cNvPr>
          <p:cNvSpPr txBox="1"/>
          <p:nvPr/>
        </p:nvSpPr>
        <p:spPr>
          <a:xfrm>
            <a:off x="-25764" y="2540133"/>
            <a:ext cx="12374328" cy="646331"/>
          </a:xfrm>
          <a:prstGeom prst="rect">
            <a:avLst/>
          </a:prstGeom>
          <a:noFill/>
        </p:spPr>
        <p:txBody>
          <a:bodyPr wrap="square">
            <a:spAutoFit/>
          </a:bodyPr>
          <a:lstStyle/>
          <a:p>
            <a:r>
              <a:rPr lang="en-IN" dirty="0"/>
              <a:t>🔹 2. </a:t>
            </a:r>
            <a:r>
              <a:rPr lang="en-IN" dirty="0">
                <a:solidFill>
                  <a:srgbClr val="666633"/>
                </a:solidFill>
              </a:rPr>
              <a:t>Disaster Detection Logic:</a:t>
            </a:r>
          </a:p>
          <a:p>
            <a:r>
              <a:rPr lang="en-US" dirty="0"/>
              <a:t>Write a JavaScript function to detect disaster types based on user input keywords like flood, earthquake, fire, cyclone.</a:t>
            </a:r>
            <a:endParaRPr lang="en-IN" dirty="0"/>
          </a:p>
        </p:txBody>
      </p:sp>
      <p:sp>
        <p:nvSpPr>
          <p:cNvPr id="20" name="TextBox 19">
            <a:extLst>
              <a:ext uri="{FF2B5EF4-FFF2-40B4-BE49-F238E27FC236}">
                <a16:creationId xmlns:a16="http://schemas.microsoft.com/office/drawing/2014/main" id="{5712C08D-CBD2-FE8B-61C6-F294BBE711C9}"/>
              </a:ext>
            </a:extLst>
          </p:cNvPr>
          <p:cNvSpPr txBox="1"/>
          <p:nvPr/>
        </p:nvSpPr>
        <p:spPr>
          <a:xfrm>
            <a:off x="-64537" y="3114463"/>
            <a:ext cx="12089380" cy="646331"/>
          </a:xfrm>
          <a:prstGeom prst="rect">
            <a:avLst/>
          </a:prstGeom>
          <a:noFill/>
        </p:spPr>
        <p:txBody>
          <a:bodyPr wrap="square">
            <a:spAutoFit/>
          </a:bodyPr>
          <a:lstStyle/>
          <a:p>
            <a:r>
              <a:rPr lang="en-US" dirty="0"/>
              <a:t>🔹 3. </a:t>
            </a:r>
            <a:r>
              <a:rPr lang="en-US" dirty="0">
                <a:solidFill>
                  <a:srgbClr val="FF9999"/>
                </a:solidFill>
              </a:rPr>
              <a:t>Risk Level Prediction:</a:t>
            </a:r>
          </a:p>
          <a:p>
            <a:r>
              <a:rPr lang="en-US" dirty="0"/>
              <a:t>Generate logic to classify disaster risk levels into LOW, MEDIUM, and HIGH based on input severity.</a:t>
            </a:r>
            <a:endParaRPr lang="en-IN" dirty="0"/>
          </a:p>
        </p:txBody>
      </p:sp>
      <p:sp>
        <p:nvSpPr>
          <p:cNvPr id="22" name="TextBox 21">
            <a:extLst>
              <a:ext uri="{FF2B5EF4-FFF2-40B4-BE49-F238E27FC236}">
                <a16:creationId xmlns:a16="http://schemas.microsoft.com/office/drawing/2014/main" id="{A46510EC-7D0F-F2F7-3A47-88931B6DEB79}"/>
              </a:ext>
            </a:extLst>
          </p:cNvPr>
          <p:cNvSpPr txBox="1"/>
          <p:nvPr/>
        </p:nvSpPr>
        <p:spPr>
          <a:xfrm>
            <a:off x="-72902" y="3760794"/>
            <a:ext cx="12172200" cy="646331"/>
          </a:xfrm>
          <a:prstGeom prst="rect">
            <a:avLst/>
          </a:prstGeom>
          <a:noFill/>
        </p:spPr>
        <p:txBody>
          <a:bodyPr wrap="square">
            <a:spAutoFit/>
          </a:bodyPr>
          <a:lstStyle/>
          <a:p>
            <a:r>
              <a:rPr lang="en-US" dirty="0"/>
              <a:t>🔹 4. </a:t>
            </a:r>
            <a:r>
              <a:rPr lang="en-US" dirty="0">
                <a:solidFill>
                  <a:srgbClr val="993300"/>
                </a:solidFill>
              </a:rPr>
              <a:t>Safety Measures Generator:</a:t>
            </a:r>
          </a:p>
          <a:p>
            <a:r>
              <a:rPr lang="en-US" dirty="0"/>
              <a:t>Provide safety steps and precautions for different disasters like flood, earthquake, and fire.</a:t>
            </a:r>
            <a:endParaRPr lang="en-IN" dirty="0"/>
          </a:p>
        </p:txBody>
      </p:sp>
      <p:sp>
        <p:nvSpPr>
          <p:cNvPr id="24" name="TextBox 23">
            <a:extLst>
              <a:ext uri="{FF2B5EF4-FFF2-40B4-BE49-F238E27FC236}">
                <a16:creationId xmlns:a16="http://schemas.microsoft.com/office/drawing/2014/main" id="{912023B4-4480-F6D9-CD5A-3588CBD3E617}"/>
              </a:ext>
            </a:extLst>
          </p:cNvPr>
          <p:cNvSpPr txBox="1"/>
          <p:nvPr/>
        </p:nvSpPr>
        <p:spPr>
          <a:xfrm>
            <a:off x="-64537" y="4407125"/>
            <a:ext cx="12172199" cy="646331"/>
          </a:xfrm>
          <a:prstGeom prst="rect">
            <a:avLst/>
          </a:prstGeom>
          <a:noFill/>
        </p:spPr>
        <p:txBody>
          <a:bodyPr wrap="square">
            <a:spAutoFit/>
          </a:bodyPr>
          <a:lstStyle/>
          <a:p>
            <a:r>
              <a:rPr lang="en-IN" dirty="0"/>
              <a:t>🔹 5. </a:t>
            </a:r>
            <a:r>
              <a:rPr lang="en-IN" dirty="0">
                <a:solidFill>
                  <a:srgbClr val="FFFF66"/>
                </a:solidFill>
              </a:rPr>
              <a:t>Map Integration:</a:t>
            </a:r>
          </a:p>
          <a:p>
            <a:r>
              <a:rPr lang="en-US" dirty="0"/>
              <a:t>Integrate Leaflet.js map to display user location and disaster area dynamically.</a:t>
            </a:r>
            <a:endParaRPr lang="en-IN" dirty="0"/>
          </a:p>
        </p:txBody>
      </p:sp>
      <p:sp>
        <p:nvSpPr>
          <p:cNvPr id="26" name="TextBox 25">
            <a:extLst>
              <a:ext uri="{FF2B5EF4-FFF2-40B4-BE49-F238E27FC236}">
                <a16:creationId xmlns:a16="http://schemas.microsoft.com/office/drawing/2014/main" id="{075356E0-56DE-A063-6078-364FE2AF3CF7}"/>
              </a:ext>
            </a:extLst>
          </p:cNvPr>
          <p:cNvSpPr txBox="1"/>
          <p:nvPr/>
        </p:nvSpPr>
        <p:spPr>
          <a:xfrm>
            <a:off x="-33227" y="5063688"/>
            <a:ext cx="12132525" cy="646331"/>
          </a:xfrm>
          <a:prstGeom prst="rect">
            <a:avLst/>
          </a:prstGeom>
          <a:noFill/>
        </p:spPr>
        <p:txBody>
          <a:bodyPr wrap="square">
            <a:spAutoFit/>
          </a:bodyPr>
          <a:lstStyle/>
          <a:p>
            <a:r>
              <a:rPr lang="en-US" dirty="0"/>
              <a:t>🔹 6. </a:t>
            </a:r>
            <a:r>
              <a:rPr lang="en-US" dirty="0">
                <a:solidFill>
                  <a:srgbClr val="660033"/>
                </a:solidFill>
              </a:rPr>
              <a:t>Backend API Prompt:</a:t>
            </a:r>
          </a:p>
          <a:p>
            <a:r>
              <a:rPr lang="en-US" dirty="0"/>
              <a:t>Create a Node.js Express API to handle AI requests and return disaster analysis results.</a:t>
            </a:r>
            <a:endParaRPr lang="en-IN" dirty="0"/>
          </a:p>
        </p:txBody>
      </p:sp>
      <p:sp>
        <p:nvSpPr>
          <p:cNvPr id="28" name="TextBox 27">
            <a:extLst>
              <a:ext uri="{FF2B5EF4-FFF2-40B4-BE49-F238E27FC236}">
                <a16:creationId xmlns:a16="http://schemas.microsoft.com/office/drawing/2014/main" id="{05B170CD-FE30-3229-FC9C-A9C13E3D2A30}"/>
              </a:ext>
            </a:extLst>
          </p:cNvPr>
          <p:cNvSpPr txBox="1"/>
          <p:nvPr/>
        </p:nvSpPr>
        <p:spPr>
          <a:xfrm>
            <a:off x="-1" y="5720251"/>
            <a:ext cx="12024843" cy="646331"/>
          </a:xfrm>
          <a:prstGeom prst="rect">
            <a:avLst/>
          </a:prstGeom>
          <a:noFill/>
        </p:spPr>
        <p:txBody>
          <a:bodyPr wrap="square">
            <a:spAutoFit/>
          </a:bodyPr>
          <a:lstStyle/>
          <a:p>
            <a:r>
              <a:rPr lang="en-IN" dirty="0">
                <a:solidFill>
                  <a:srgbClr val="FF3300"/>
                </a:solidFill>
              </a:rPr>
              <a:t>User Input Handling:</a:t>
            </a:r>
          </a:p>
          <a:p>
            <a:r>
              <a:rPr lang="en-US" dirty="0"/>
              <a:t>Write JavaScript code to take user input for location and trigger analysis on button click or Enter key.</a:t>
            </a:r>
            <a:endParaRPr lang="en-IN" dirty="0"/>
          </a:p>
        </p:txBody>
      </p:sp>
    </p:spTree>
    <p:extLst>
      <p:ext uri="{BB962C8B-B14F-4D97-AF65-F5344CB8AC3E}">
        <p14:creationId xmlns:p14="http://schemas.microsoft.com/office/powerpoint/2010/main" val="2989603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52A04-872F-2996-8EBB-2E9BBDB6F17F}"/>
              </a:ext>
            </a:extLst>
          </p:cNvPr>
          <p:cNvSpPr>
            <a:spLocks noGrp="1"/>
          </p:cNvSpPr>
          <p:nvPr>
            <p:ph type="dt" sz="half" idx="10"/>
          </p:nvPr>
        </p:nvSpPr>
        <p:spPr/>
        <p:txBody>
          <a:bodyPr/>
          <a:lstStyle/>
          <a:p>
            <a:fld id="{74086E71-A404-4C6B-BA20-EBBC64FC893D}" type="datetime1">
              <a:rPr lang="en-US" smtClean="0"/>
              <a:pPr/>
              <a:t>4/13/2026</a:t>
            </a:fld>
            <a:endParaRPr lang="en-US"/>
          </a:p>
        </p:txBody>
      </p:sp>
      <p:sp>
        <p:nvSpPr>
          <p:cNvPr id="4" name="Slide Number Placeholder 3">
            <a:extLst>
              <a:ext uri="{FF2B5EF4-FFF2-40B4-BE49-F238E27FC236}">
                <a16:creationId xmlns:a16="http://schemas.microsoft.com/office/drawing/2014/main" id="{6616C8A9-402A-021B-AFD2-015F61C4DBB8}"/>
              </a:ext>
            </a:extLst>
          </p:cNvPr>
          <p:cNvSpPr>
            <a:spLocks noGrp="1"/>
          </p:cNvSpPr>
          <p:nvPr>
            <p:ph type="sldNum" sz="quarter" idx="12"/>
          </p:nvPr>
        </p:nvSpPr>
        <p:spPr/>
        <p:txBody>
          <a:bodyPr/>
          <a:lstStyle/>
          <a:p>
            <a:fld id="{6EFE7C99-B088-4EBB-BFF6-BECCC96D5DD8}" type="slidenum">
              <a:rPr lang="en-US" smtClean="0"/>
              <a:pPr/>
              <a:t>8</a:t>
            </a:fld>
            <a:endParaRPr lang="en-US"/>
          </a:p>
        </p:txBody>
      </p:sp>
      <p:pic>
        <p:nvPicPr>
          <p:cNvPr id="5" name="Picture 4" descr="WhatsApp Image 2024-08-23 at 15.43.17">
            <a:extLst>
              <a:ext uri="{FF2B5EF4-FFF2-40B4-BE49-F238E27FC236}">
                <a16:creationId xmlns:a16="http://schemas.microsoft.com/office/drawing/2014/main" id="{34E813B3-0258-59F7-D74A-9A1B4AA87897}"/>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6" name="Group 5">
            <a:extLst>
              <a:ext uri="{FF2B5EF4-FFF2-40B4-BE49-F238E27FC236}">
                <a16:creationId xmlns:a16="http://schemas.microsoft.com/office/drawing/2014/main" id="{C89227CD-0A0E-8C95-BD22-6C00C564DEC1}"/>
              </a:ext>
            </a:extLst>
          </p:cNvPr>
          <p:cNvGrpSpPr/>
          <p:nvPr/>
        </p:nvGrpSpPr>
        <p:grpSpPr>
          <a:xfrm>
            <a:off x="2334741" y="136525"/>
            <a:ext cx="9745291" cy="677445"/>
            <a:chOff x="2336800" y="134364"/>
            <a:chExt cx="9745291" cy="677445"/>
          </a:xfrm>
          <a:solidFill>
            <a:srgbClr val="194E91"/>
          </a:solidFill>
        </p:grpSpPr>
        <p:sp>
          <p:nvSpPr>
            <p:cNvPr id="7" name="TextBox 6">
              <a:extLst>
                <a:ext uri="{FF2B5EF4-FFF2-40B4-BE49-F238E27FC236}">
                  <a16:creationId xmlns:a16="http://schemas.microsoft.com/office/drawing/2014/main" id="{CFB571C7-7C5D-62ED-3F39-D0A341893E3C}"/>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8" name="TextBox 7">
              <a:extLst>
                <a:ext uri="{FF2B5EF4-FFF2-40B4-BE49-F238E27FC236}">
                  <a16:creationId xmlns:a16="http://schemas.microsoft.com/office/drawing/2014/main" id="{FD6C7DD4-6C39-7308-88C2-C1E12C14D5F8}"/>
                </a:ext>
              </a:extLst>
            </p:cNvPr>
            <p:cNvSpPr txBox="1"/>
            <p:nvPr/>
          </p:nvSpPr>
          <p:spPr>
            <a:xfrm>
              <a:off x="2394530" y="273031"/>
              <a:ext cx="9687560" cy="400110"/>
            </a:xfrm>
            <a:prstGeom prst="rect">
              <a:avLst/>
            </a:prstGeom>
            <a:grpFill/>
          </p:spPr>
          <p:txBody>
            <a:bodyPr wrap="square" rtlCol="0">
              <a:spAutoFit/>
            </a:bodyPr>
            <a:lstStyle/>
            <a:p>
              <a:pPr algn="ctr"/>
              <a:r>
                <a:rPr lang="en-IN" sz="2000" dirty="0"/>
                <a:t>AI Prompts Used to Generate Code</a:t>
              </a:r>
              <a:r>
                <a:rPr lang="en-IN" sz="2000" dirty="0">
                  <a:solidFill>
                    <a:schemeClr val="bg2"/>
                  </a:solidFill>
                </a:rPr>
                <a:t>(PART 2)</a:t>
              </a:r>
              <a:endParaRPr lang="en-US" sz="2000" dirty="0">
                <a:solidFill>
                  <a:schemeClr val="bg2"/>
                </a:solidFill>
              </a:endParaRPr>
            </a:p>
          </p:txBody>
        </p:sp>
      </p:grpSp>
      <p:sp>
        <p:nvSpPr>
          <p:cNvPr id="12" name="TextBox 11">
            <a:extLst>
              <a:ext uri="{FF2B5EF4-FFF2-40B4-BE49-F238E27FC236}">
                <a16:creationId xmlns:a16="http://schemas.microsoft.com/office/drawing/2014/main" id="{570A5B9E-502B-DEC5-7F41-EB7F28FFD6AC}"/>
              </a:ext>
            </a:extLst>
          </p:cNvPr>
          <p:cNvSpPr txBox="1"/>
          <p:nvPr/>
        </p:nvSpPr>
        <p:spPr>
          <a:xfrm>
            <a:off x="-1" y="1079632"/>
            <a:ext cx="12080031" cy="646331"/>
          </a:xfrm>
          <a:prstGeom prst="rect">
            <a:avLst/>
          </a:prstGeom>
          <a:noFill/>
        </p:spPr>
        <p:txBody>
          <a:bodyPr wrap="square">
            <a:spAutoFit/>
          </a:bodyPr>
          <a:lstStyle/>
          <a:p>
            <a:r>
              <a:rPr lang="en-IN" dirty="0">
                <a:solidFill>
                  <a:schemeClr val="accent6">
                    <a:lumMod val="40000"/>
                    <a:lumOff val="60000"/>
                  </a:schemeClr>
                </a:solidFill>
              </a:rPr>
              <a:t>Alert Message Generation:</a:t>
            </a:r>
          </a:p>
          <a:p>
            <a:r>
              <a:rPr lang="en-US" dirty="0"/>
              <a:t>Generate dynamic alert messages based on disaster type and risk level.</a:t>
            </a:r>
            <a:endParaRPr lang="en-IN" dirty="0"/>
          </a:p>
        </p:txBody>
      </p:sp>
      <p:sp>
        <p:nvSpPr>
          <p:cNvPr id="14" name="TextBox 13">
            <a:extLst>
              <a:ext uri="{FF2B5EF4-FFF2-40B4-BE49-F238E27FC236}">
                <a16:creationId xmlns:a16="http://schemas.microsoft.com/office/drawing/2014/main" id="{CD7AB6DB-F095-558B-CB7D-652C28DB40B9}"/>
              </a:ext>
            </a:extLst>
          </p:cNvPr>
          <p:cNvSpPr txBox="1"/>
          <p:nvPr/>
        </p:nvSpPr>
        <p:spPr>
          <a:xfrm>
            <a:off x="0" y="1903162"/>
            <a:ext cx="12080030" cy="646331"/>
          </a:xfrm>
          <a:prstGeom prst="rect">
            <a:avLst/>
          </a:prstGeom>
          <a:noFill/>
        </p:spPr>
        <p:txBody>
          <a:bodyPr wrap="square">
            <a:spAutoFit/>
          </a:bodyPr>
          <a:lstStyle/>
          <a:p>
            <a:r>
              <a:rPr lang="en-IN" dirty="0">
                <a:solidFill>
                  <a:srgbClr val="164F8F"/>
                </a:solidFill>
              </a:rPr>
              <a:t>Safety Measures:</a:t>
            </a:r>
          </a:p>
          <a:p>
            <a:r>
              <a:rPr lang="en-US" dirty="0"/>
              <a:t>Provide safety steps for each disaster type such as flood, earthquake, cyclone, and fire.</a:t>
            </a:r>
            <a:endParaRPr lang="en-IN" dirty="0"/>
          </a:p>
        </p:txBody>
      </p:sp>
      <p:sp>
        <p:nvSpPr>
          <p:cNvPr id="16" name="TextBox 15">
            <a:extLst>
              <a:ext uri="{FF2B5EF4-FFF2-40B4-BE49-F238E27FC236}">
                <a16:creationId xmlns:a16="http://schemas.microsoft.com/office/drawing/2014/main" id="{8BD71802-F8F8-48C2-47C9-322B7A130A24}"/>
              </a:ext>
            </a:extLst>
          </p:cNvPr>
          <p:cNvSpPr txBox="1"/>
          <p:nvPr/>
        </p:nvSpPr>
        <p:spPr>
          <a:xfrm>
            <a:off x="0" y="2658415"/>
            <a:ext cx="12080030" cy="646331"/>
          </a:xfrm>
          <a:prstGeom prst="rect">
            <a:avLst/>
          </a:prstGeom>
          <a:noFill/>
        </p:spPr>
        <p:txBody>
          <a:bodyPr wrap="square">
            <a:spAutoFit/>
          </a:bodyPr>
          <a:lstStyle/>
          <a:p>
            <a:r>
              <a:rPr lang="en-IN" dirty="0">
                <a:solidFill>
                  <a:srgbClr val="FF9966"/>
                </a:solidFill>
              </a:rPr>
              <a:t>Emergency Contacts:</a:t>
            </a:r>
          </a:p>
          <a:p>
            <a:r>
              <a:rPr lang="en-US" dirty="0"/>
              <a:t>Display relevant emergency contact numbers for different disaster scenarios.</a:t>
            </a:r>
            <a:endParaRPr lang="en-IN" dirty="0"/>
          </a:p>
        </p:txBody>
      </p:sp>
      <p:sp>
        <p:nvSpPr>
          <p:cNvPr id="18" name="TextBox 17">
            <a:extLst>
              <a:ext uri="{FF2B5EF4-FFF2-40B4-BE49-F238E27FC236}">
                <a16:creationId xmlns:a16="http://schemas.microsoft.com/office/drawing/2014/main" id="{1812D3BA-7826-A45D-0558-283F29C51A17}"/>
              </a:ext>
            </a:extLst>
          </p:cNvPr>
          <p:cNvSpPr txBox="1"/>
          <p:nvPr/>
        </p:nvSpPr>
        <p:spPr>
          <a:xfrm>
            <a:off x="-1" y="3509872"/>
            <a:ext cx="12080030" cy="646331"/>
          </a:xfrm>
          <a:prstGeom prst="rect">
            <a:avLst/>
          </a:prstGeom>
          <a:noFill/>
        </p:spPr>
        <p:txBody>
          <a:bodyPr wrap="square">
            <a:spAutoFit/>
          </a:bodyPr>
          <a:lstStyle/>
          <a:p>
            <a:r>
              <a:rPr lang="en-IN" dirty="0">
                <a:solidFill>
                  <a:srgbClr val="99FFCC"/>
                </a:solidFill>
              </a:rPr>
              <a:t>Voice Alerts:</a:t>
            </a:r>
          </a:p>
          <a:p>
            <a:r>
              <a:rPr lang="en-US" dirty="0"/>
              <a:t>Add speech synthesis to announce high-risk alerts automatically.</a:t>
            </a:r>
            <a:endParaRPr lang="en-IN" dirty="0"/>
          </a:p>
        </p:txBody>
      </p:sp>
      <p:sp>
        <p:nvSpPr>
          <p:cNvPr id="20" name="TextBox 19">
            <a:extLst>
              <a:ext uri="{FF2B5EF4-FFF2-40B4-BE49-F238E27FC236}">
                <a16:creationId xmlns:a16="http://schemas.microsoft.com/office/drawing/2014/main" id="{7DF6DB65-C0A7-375C-B617-F97EF43A1898}"/>
              </a:ext>
            </a:extLst>
          </p:cNvPr>
          <p:cNvSpPr txBox="1"/>
          <p:nvPr/>
        </p:nvSpPr>
        <p:spPr>
          <a:xfrm>
            <a:off x="-1" y="4431176"/>
            <a:ext cx="12080029" cy="646331"/>
          </a:xfrm>
          <a:prstGeom prst="rect">
            <a:avLst/>
          </a:prstGeom>
          <a:noFill/>
        </p:spPr>
        <p:txBody>
          <a:bodyPr wrap="square">
            <a:spAutoFit/>
          </a:bodyPr>
          <a:lstStyle/>
          <a:p>
            <a:r>
              <a:rPr lang="en-IN" dirty="0">
                <a:solidFill>
                  <a:srgbClr val="CC0000"/>
                </a:solidFill>
              </a:rPr>
              <a:t>Voice Input:</a:t>
            </a:r>
          </a:p>
          <a:p>
            <a:r>
              <a:rPr lang="en-US" dirty="0"/>
              <a:t>Implement voice recognition to allow users to input location using speech.</a:t>
            </a:r>
            <a:endParaRPr lang="en-IN" dirty="0"/>
          </a:p>
        </p:txBody>
      </p:sp>
      <p:sp>
        <p:nvSpPr>
          <p:cNvPr id="22" name="TextBox 21">
            <a:extLst>
              <a:ext uri="{FF2B5EF4-FFF2-40B4-BE49-F238E27FC236}">
                <a16:creationId xmlns:a16="http://schemas.microsoft.com/office/drawing/2014/main" id="{ABBB7D48-9CCF-85D3-61D9-1B97B4B82C23}"/>
              </a:ext>
            </a:extLst>
          </p:cNvPr>
          <p:cNvSpPr txBox="1"/>
          <p:nvPr/>
        </p:nvSpPr>
        <p:spPr>
          <a:xfrm>
            <a:off x="0" y="5295351"/>
            <a:ext cx="12080028" cy="646331"/>
          </a:xfrm>
          <a:prstGeom prst="rect">
            <a:avLst/>
          </a:prstGeom>
          <a:noFill/>
        </p:spPr>
        <p:txBody>
          <a:bodyPr wrap="square">
            <a:spAutoFit/>
          </a:bodyPr>
          <a:lstStyle/>
          <a:p>
            <a:r>
              <a:rPr lang="en-IN" dirty="0">
                <a:solidFill>
                  <a:srgbClr val="006666"/>
                </a:solidFill>
              </a:rPr>
              <a:t>API Integration (Real-time Data):</a:t>
            </a:r>
          </a:p>
          <a:p>
            <a:r>
              <a:rPr lang="en-US" dirty="0"/>
              <a:t>Fetch real-time earthquake data using USGS API and integrate it into the system.</a:t>
            </a:r>
            <a:endParaRPr lang="en-IN" dirty="0"/>
          </a:p>
        </p:txBody>
      </p:sp>
    </p:spTree>
    <p:extLst>
      <p:ext uri="{BB962C8B-B14F-4D97-AF65-F5344CB8AC3E}">
        <p14:creationId xmlns:p14="http://schemas.microsoft.com/office/powerpoint/2010/main" val="410150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a:xfrm>
            <a:off x="838199" y="6223518"/>
            <a:ext cx="3920413" cy="497957"/>
          </a:xfrm>
        </p:spPr>
        <p:txBody>
          <a:bodyPr/>
          <a:lstStyle/>
          <a:p>
            <a:fld id="{4CF589D3-4C63-47B3-B953-85313A46AC82}"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9</a:t>
            </a:fld>
            <a:endParaRPr lang="en-US" dirty="0"/>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65665" y="270609"/>
              <a:ext cx="9687560" cy="400110"/>
            </a:xfrm>
            <a:prstGeom prst="rect">
              <a:avLst/>
            </a:prstGeom>
            <a:grpFill/>
          </p:spPr>
          <p:txBody>
            <a:bodyPr wrap="square" rtlCol="0">
              <a:spAutoFit/>
            </a:bodyPr>
            <a:lstStyle/>
            <a:p>
              <a:pPr algn="ctr"/>
              <a:r>
                <a:rPr lang="en-IN" sz="2000" dirty="0">
                  <a:solidFill>
                    <a:schemeClr val="bg1"/>
                  </a:solidFill>
                </a:rPr>
                <a:t>Flowchart</a:t>
              </a:r>
              <a:r>
                <a:rPr lang="en-IN" sz="2000" dirty="0"/>
                <a:t> </a:t>
              </a:r>
              <a:endParaRPr lang="en-US" sz="2000" dirty="0"/>
            </a:p>
          </p:txBody>
        </p:sp>
      </p:grpSp>
      <p:sp>
        <p:nvSpPr>
          <p:cNvPr id="6" name="Rectangle 5">
            <a:extLst>
              <a:ext uri="{FF2B5EF4-FFF2-40B4-BE49-F238E27FC236}">
                <a16:creationId xmlns:a16="http://schemas.microsoft.com/office/drawing/2014/main" id="{D9CDA2C6-613C-7265-4BDC-66DAD1F03F99}"/>
              </a:ext>
            </a:extLst>
          </p:cNvPr>
          <p:cNvSpPr/>
          <p:nvPr/>
        </p:nvSpPr>
        <p:spPr>
          <a:xfrm>
            <a:off x="4634196" y="1240971"/>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t>Start</a:t>
            </a:r>
          </a:p>
        </p:txBody>
      </p:sp>
      <p:sp>
        <p:nvSpPr>
          <p:cNvPr id="8" name="Arrow: Down 7">
            <a:extLst>
              <a:ext uri="{FF2B5EF4-FFF2-40B4-BE49-F238E27FC236}">
                <a16:creationId xmlns:a16="http://schemas.microsoft.com/office/drawing/2014/main" id="{B9C13A77-3B26-564B-F814-E124E17DCE24}"/>
              </a:ext>
            </a:extLst>
          </p:cNvPr>
          <p:cNvSpPr/>
          <p:nvPr/>
        </p:nvSpPr>
        <p:spPr>
          <a:xfrm>
            <a:off x="5786526" y="1624817"/>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9" name="Rectangle 8">
            <a:extLst>
              <a:ext uri="{FF2B5EF4-FFF2-40B4-BE49-F238E27FC236}">
                <a16:creationId xmlns:a16="http://schemas.microsoft.com/office/drawing/2014/main" id="{F8321EEC-C0E7-AE49-4C45-37ABE190ACC3}"/>
              </a:ext>
            </a:extLst>
          </p:cNvPr>
          <p:cNvSpPr/>
          <p:nvPr/>
        </p:nvSpPr>
        <p:spPr>
          <a:xfrm>
            <a:off x="4673081" y="1912776"/>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User Enters Location / Voice Input</a:t>
            </a:r>
          </a:p>
        </p:txBody>
      </p:sp>
      <p:sp>
        <p:nvSpPr>
          <p:cNvPr id="12" name="Arrow: Down 11">
            <a:extLst>
              <a:ext uri="{FF2B5EF4-FFF2-40B4-BE49-F238E27FC236}">
                <a16:creationId xmlns:a16="http://schemas.microsoft.com/office/drawing/2014/main" id="{8373E235-FD0E-CB3B-2800-26D40F55CA2B}"/>
              </a:ext>
            </a:extLst>
          </p:cNvPr>
          <p:cNvSpPr/>
          <p:nvPr/>
        </p:nvSpPr>
        <p:spPr>
          <a:xfrm>
            <a:off x="5786526" y="2286001"/>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EF61812F-8D96-A031-396F-88A25F315C59}"/>
              </a:ext>
            </a:extLst>
          </p:cNvPr>
          <p:cNvSpPr/>
          <p:nvPr/>
        </p:nvSpPr>
        <p:spPr>
          <a:xfrm>
            <a:off x="4663061" y="2593955"/>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Input Processing (Text Analysis)</a:t>
            </a:r>
          </a:p>
        </p:txBody>
      </p:sp>
      <p:sp>
        <p:nvSpPr>
          <p:cNvPr id="17" name="Rectangle 16">
            <a:extLst>
              <a:ext uri="{FF2B5EF4-FFF2-40B4-BE49-F238E27FC236}">
                <a16:creationId xmlns:a16="http://schemas.microsoft.com/office/drawing/2014/main" id="{8BBA1B0D-707D-FCC4-54F0-D86CD4190FDB}"/>
              </a:ext>
            </a:extLst>
          </p:cNvPr>
          <p:cNvSpPr/>
          <p:nvPr/>
        </p:nvSpPr>
        <p:spPr>
          <a:xfrm>
            <a:off x="4663060" y="3974927"/>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Risk Level Prediction (Low / Medium / High)</a:t>
            </a:r>
            <a:endParaRPr lang="en-IN" sz="1200" dirty="0"/>
          </a:p>
        </p:txBody>
      </p:sp>
      <p:sp>
        <p:nvSpPr>
          <p:cNvPr id="18" name="Rectangle 17">
            <a:extLst>
              <a:ext uri="{FF2B5EF4-FFF2-40B4-BE49-F238E27FC236}">
                <a16:creationId xmlns:a16="http://schemas.microsoft.com/office/drawing/2014/main" id="{1EFF496D-991E-7577-B0EB-1CA80FB42E27}"/>
              </a:ext>
            </a:extLst>
          </p:cNvPr>
          <p:cNvSpPr/>
          <p:nvPr/>
        </p:nvSpPr>
        <p:spPr>
          <a:xfrm>
            <a:off x="4673081" y="3293750"/>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Disaster Detection (Keyword Matching)</a:t>
            </a:r>
          </a:p>
        </p:txBody>
      </p:sp>
      <p:sp>
        <p:nvSpPr>
          <p:cNvPr id="19" name="Rectangle 18">
            <a:extLst>
              <a:ext uri="{FF2B5EF4-FFF2-40B4-BE49-F238E27FC236}">
                <a16:creationId xmlns:a16="http://schemas.microsoft.com/office/drawing/2014/main" id="{4B162AD8-2418-977E-1B6F-7E83775DCC52}"/>
              </a:ext>
            </a:extLst>
          </p:cNvPr>
          <p:cNvSpPr/>
          <p:nvPr/>
        </p:nvSpPr>
        <p:spPr>
          <a:xfrm>
            <a:off x="4634196" y="5355818"/>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Display Results:</a:t>
            </a:r>
          </a:p>
        </p:txBody>
      </p:sp>
      <p:sp>
        <p:nvSpPr>
          <p:cNvPr id="20" name="Rectangle 19">
            <a:extLst>
              <a:ext uri="{FF2B5EF4-FFF2-40B4-BE49-F238E27FC236}">
                <a16:creationId xmlns:a16="http://schemas.microsoft.com/office/drawing/2014/main" id="{BE87C12B-C9EA-74F7-19F5-0D4F12469E7C}"/>
              </a:ext>
            </a:extLst>
          </p:cNvPr>
          <p:cNvSpPr/>
          <p:nvPr/>
        </p:nvSpPr>
        <p:spPr>
          <a:xfrm>
            <a:off x="4663060" y="4665436"/>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t>Generate Alert Message</a:t>
            </a:r>
          </a:p>
        </p:txBody>
      </p:sp>
      <p:sp>
        <p:nvSpPr>
          <p:cNvPr id="21" name="Arrow: Down 20">
            <a:extLst>
              <a:ext uri="{FF2B5EF4-FFF2-40B4-BE49-F238E27FC236}">
                <a16:creationId xmlns:a16="http://schemas.microsoft.com/office/drawing/2014/main" id="{9A3D45D2-C1B3-1C72-4957-27645679AD20}"/>
              </a:ext>
            </a:extLst>
          </p:cNvPr>
          <p:cNvSpPr/>
          <p:nvPr/>
        </p:nvSpPr>
        <p:spPr>
          <a:xfrm>
            <a:off x="5783414" y="2976553"/>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4FD40069-4CBC-8DBC-E5C6-EA0B8F4DA2A0}"/>
              </a:ext>
            </a:extLst>
          </p:cNvPr>
          <p:cNvSpPr/>
          <p:nvPr/>
        </p:nvSpPr>
        <p:spPr>
          <a:xfrm>
            <a:off x="5783414" y="3676348"/>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AF22B679-C90F-FE14-B4B4-E45E60D01B2A}"/>
              </a:ext>
            </a:extLst>
          </p:cNvPr>
          <p:cNvSpPr/>
          <p:nvPr/>
        </p:nvSpPr>
        <p:spPr>
          <a:xfrm>
            <a:off x="5783414" y="5038661"/>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Down 23">
            <a:extLst>
              <a:ext uri="{FF2B5EF4-FFF2-40B4-BE49-F238E27FC236}">
                <a16:creationId xmlns:a16="http://schemas.microsoft.com/office/drawing/2014/main" id="{65FD7DEB-3503-4E8C-8F8A-9E729C418740}"/>
              </a:ext>
            </a:extLst>
          </p:cNvPr>
          <p:cNvSpPr/>
          <p:nvPr/>
        </p:nvSpPr>
        <p:spPr>
          <a:xfrm>
            <a:off x="5783414" y="4357523"/>
            <a:ext cx="270588" cy="2985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D2107558-A34D-F8DA-ED05-2F2D7ED59B44}"/>
              </a:ext>
            </a:extLst>
          </p:cNvPr>
          <p:cNvSpPr/>
          <p:nvPr/>
        </p:nvSpPr>
        <p:spPr>
          <a:xfrm>
            <a:off x="7209444" y="5496192"/>
            <a:ext cx="352239" cy="1571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94BAA4AA-50AD-1D01-C7E6-23F881C7656B}"/>
              </a:ext>
            </a:extLst>
          </p:cNvPr>
          <p:cNvSpPr/>
          <p:nvPr/>
        </p:nvSpPr>
        <p:spPr>
          <a:xfrm>
            <a:off x="7761121" y="5282719"/>
            <a:ext cx="1229315" cy="1570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Disaster Type</a:t>
            </a:r>
          </a:p>
        </p:txBody>
      </p:sp>
      <p:sp>
        <p:nvSpPr>
          <p:cNvPr id="30" name="Rectangle 29">
            <a:extLst>
              <a:ext uri="{FF2B5EF4-FFF2-40B4-BE49-F238E27FC236}">
                <a16:creationId xmlns:a16="http://schemas.microsoft.com/office/drawing/2014/main" id="{0ABDBF00-9906-9A2D-6D24-CDF2EBF30A24}"/>
              </a:ext>
            </a:extLst>
          </p:cNvPr>
          <p:cNvSpPr/>
          <p:nvPr/>
        </p:nvSpPr>
        <p:spPr>
          <a:xfrm>
            <a:off x="7707084" y="5945181"/>
            <a:ext cx="1385596" cy="1454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Safety Steps</a:t>
            </a:r>
          </a:p>
        </p:txBody>
      </p:sp>
      <p:sp>
        <p:nvSpPr>
          <p:cNvPr id="31" name="Rectangle 30">
            <a:extLst>
              <a:ext uri="{FF2B5EF4-FFF2-40B4-BE49-F238E27FC236}">
                <a16:creationId xmlns:a16="http://schemas.microsoft.com/office/drawing/2014/main" id="{6E0278C9-2341-EEC3-5A6C-F9FD7FBD251C}"/>
              </a:ext>
            </a:extLst>
          </p:cNvPr>
          <p:cNvSpPr/>
          <p:nvPr/>
        </p:nvSpPr>
        <p:spPr>
          <a:xfrm>
            <a:off x="7719895" y="5637243"/>
            <a:ext cx="1229315" cy="1570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Risk Level</a:t>
            </a:r>
          </a:p>
        </p:txBody>
      </p:sp>
      <p:sp>
        <p:nvSpPr>
          <p:cNvPr id="33" name="Rectangle 32">
            <a:extLst>
              <a:ext uri="{FF2B5EF4-FFF2-40B4-BE49-F238E27FC236}">
                <a16:creationId xmlns:a16="http://schemas.microsoft.com/office/drawing/2014/main" id="{F365A445-BC38-796E-D842-2C6EF8E9438E}"/>
              </a:ext>
            </a:extLst>
          </p:cNvPr>
          <p:cNvSpPr/>
          <p:nvPr/>
        </p:nvSpPr>
        <p:spPr>
          <a:xfrm>
            <a:off x="7516194" y="6242185"/>
            <a:ext cx="1824913" cy="217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Emergency Contacts</a:t>
            </a:r>
          </a:p>
        </p:txBody>
      </p:sp>
      <p:sp>
        <p:nvSpPr>
          <p:cNvPr id="34" name="Rectangle 33">
            <a:extLst>
              <a:ext uri="{FF2B5EF4-FFF2-40B4-BE49-F238E27FC236}">
                <a16:creationId xmlns:a16="http://schemas.microsoft.com/office/drawing/2014/main" id="{BE3ECD9E-F615-07FE-AEB2-E579E868571D}"/>
              </a:ext>
            </a:extLst>
          </p:cNvPr>
          <p:cNvSpPr/>
          <p:nvPr/>
        </p:nvSpPr>
        <p:spPr>
          <a:xfrm>
            <a:off x="4658306" y="6027623"/>
            <a:ext cx="2575249" cy="3732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END</a:t>
            </a:r>
          </a:p>
        </p:txBody>
      </p:sp>
      <p:sp>
        <p:nvSpPr>
          <p:cNvPr id="35" name="Arrow: Down 34">
            <a:extLst>
              <a:ext uri="{FF2B5EF4-FFF2-40B4-BE49-F238E27FC236}">
                <a16:creationId xmlns:a16="http://schemas.microsoft.com/office/drawing/2014/main" id="{971B9C22-8AE5-2FA4-C952-09B4A69E123C}"/>
              </a:ext>
            </a:extLst>
          </p:cNvPr>
          <p:cNvSpPr/>
          <p:nvPr/>
        </p:nvSpPr>
        <p:spPr>
          <a:xfrm>
            <a:off x="8177502" y="5792424"/>
            <a:ext cx="222380" cy="1518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Down 35">
            <a:extLst>
              <a:ext uri="{FF2B5EF4-FFF2-40B4-BE49-F238E27FC236}">
                <a16:creationId xmlns:a16="http://schemas.microsoft.com/office/drawing/2014/main" id="{D4EFA226-7760-57AE-B4A0-2E2705384093}"/>
              </a:ext>
            </a:extLst>
          </p:cNvPr>
          <p:cNvSpPr/>
          <p:nvPr/>
        </p:nvSpPr>
        <p:spPr>
          <a:xfrm>
            <a:off x="8177502" y="6091922"/>
            <a:ext cx="251149" cy="1332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a16="http://schemas.microsoft.com/office/drawing/2014/main" id="{8506A066-8C21-626C-0131-35CB53F78F3F}"/>
              </a:ext>
            </a:extLst>
          </p:cNvPr>
          <p:cNvSpPr/>
          <p:nvPr/>
        </p:nvSpPr>
        <p:spPr>
          <a:xfrm>
            <a:off x="8209378" y="6445216"/>
            <a:ext cx="222380" cy="1363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Down 37">
            <a:extLst>
              <a:ext uri="{FF2B5EF4-FFF2-40B4-BE49-F238E27FC236}">
                <a16:creationId xmlns:a16="http://schemas.microsoft.com/office/drawing/2014/main" id="{32F4DD6E-C369-D060-AABB-9191D2466640}"/>
              </a:ext>
            </a:extLst>
          </p:cNvPr>
          <p:cNvSpPr/>
          <p:nvPr/>
        </p:nvSpPr>
        <p:spPr>
          <a:xfrm>
            <a:off x="8201607" y="5459935"/>
            <a:ext cx="174172" cy="1571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Down 38">
            <a:extLst>
              <a:ext uri="{FF2B5EF4-FFF2-40B4-BE49-F238E27FC236}">
                <a16:creationId xmlns:a16="http://schemas.microsoft.com/office/drawing/2014/main" id="{A173EE46-0EEF-E47E-7DA8-4983737DBF0C}"/>
              </a:ext>
            </a:extLst>
          </p:cNvPr>
          <p:cNvSpPr/>
          <p:nvPr/>
        </p:nvSpPr>
        <p:spPr>
          <a:xfrm>
            <a:off x="5783414" y="5747620"/>
            <a:ext cx="270588" cy="2800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1EB6C371-BAFE-CB9C-2ACA-270F50A87DA0}"/>
              </a:ext>
            </a:extLst>
          </p:cNvPr>
          <p:cNvSpPr/>
          <p:nvPr/>
        </p:nvSpPr>
        <p:spPr>
          <a:xfrm>
            <a:off x="7516194" y="6564316"/>
            <a:ext cx="2047684" cy="157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Map Visualization</a:t>
            </a:r>
          </a:p>
        </p:txBody>
      </p:sp>
    </p:spTree>
    <p:extLst>
      <p:ext uri="{BB962C8B-B14F-4D97-AF65-F5344CB8AC3E}">
        <p14:creationId xmlns:p14="http://schemas.microsoft.com/office/powerpoint/2010/main" val="2764795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5ED2CFF8-4102-4A5E-9610-420A2B979D7C}"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10</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37283" y="218783"/>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Front-end view of your web/mobile application </a:t>
              </a:r>
              <a:endParaRPr lang="en-US" sz="2000" dirty="0"/>
            </a:p>
          </p:txBody>
        </p:sp>
      </p:grpSp>
      <p:pic>
        <p:nvPicPr>
          <p:cNvPr id="9" name="Picture 8">
            <a:extLst>
              <a:ext uri="{FF2B5EF4-FFF2-40B4-BE49-F238E27FC236}">
                <a16:creationId xmlns:a16="http://schemas.microsoft.com/office/drawing/2014/main" id="{9AE9E991-5468-B894-924C-CAE511B47EFB}"/>
              </a:ext>
            </a:extLst>
          </p:cNvPr>
          <p:cNvPicPr>
            <a:picLocks noChangeAspect="1"/>
          </p:cNvPicPr>
          <p:nvPr/>
        </p:nvPicPr>
        <p:blipFill>
          <a:blip r:embed="rId4"/>
          <a:stretch>
            <a:fillRect/>
          </a:stretch>
        </p:blipFill>
        <p:spPr>
          <a:xfrm>
            <a:off x="0" y="1131069"/>
            <a:ext cx="12192000" cy="5726931"/>
          </a:xfrm>
          <a:prstGeom prst="rect">
            <a:avLst/>
          </a:prstGeom>
        </p:spPr>
      </p:pic>
    </p:spTree>
    <p:extLst>
      <p:ext uri="{BB962C8B-B14F-4D97-AF65-F5344CB8AC3E}">
        <p14:creationId xmlns:p14="http://schemas.microsoft.com/office/powerpoint/2010/main" val="309578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5FCBE785-FCB1-47C6-82CF-6F2E4184A946}"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11</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54721" y="91831"/>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Proof of Prompts generating codes </a:t>
              </a:r>
            </a:p>
          </p:txBody>
        </p:sp>
      </p:grpSp>
      <p:pic>
        <p:nvPicPr>
          <p:cNvPr id="6" name="Picture 5">
            <a:extLst>
              <a:ext uri="{FF2B5EF4-FFF2-40B4-BE49-F238E27FC236}">
                <a16:creationId xmlns:a16="http://schemas.microsoft.com/office/drawing/2014/main" id="{A72D27C1-E5DD-9FE2-8D43-2F980CD34D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00054"/>
            <a:ext cx="12192000" cy="6062243"/>
          </a:xfrm>
          <a:prstGeom prst="rect">
            <a:avLst/>
          </a:prstGeom>
        </p:spPr>
      </p:pic>
    </p:spTree>
    <p:extLst>
      <p:ext uri="{BB962C8B-B14F-4D97-AF65-F5344CB8AC3E}">
        <p14:creationId xmlns:p14="http://schemas.microsoft.com/office/powerpoint/2010/main" val="2050717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F9C94B85-562E-4E42-83F1-2C55CBD384CF}"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12</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94530" y="273031"/>
              <a:ext cx="9687560" cy="400110"/>
            </a:xfrm>
            <a:prstGeom prst="rect">
              <a:avLst/>
            </a:prstGeom>
            <a:grpFill/>
          </p:spPr>
          <p:txBody>
            <a:bodyPr wrap="square" rtlCol="0">
              <a:spAutoFit/>
            </a:bodyPr>
            <a:lstStyle/>
            <a:p>
              <a:pPr algn="ctr"/>
              <a:r>
                <a:rPr lang="en-IN" sz="2000" dirty="0"/>
                <a:t>📚 References &amp; Project Resources</a:t>
              </a:r>
              <a:endParaRPr lang="en-US" sz="2000" b="1" dirty="0">
                <a:solidFill>
                  <a:schemeClr val="bg1"/>
                </a:solidFill>
              </a:endParaRPr>
            </a:p>
          </p:txBody>
        </p:sp>
      </p:grpSp>
      <p:sp>
        <p:nvSpPr>
          <p:cNvPr id="6" name="TextBox 5">
            <a:extLst>
              <a:ext uri="{FF2B5EF4-FFF2-40B4-BE49-F238E27FC236}">
                <a16:creationId xmlns:a16="http://schemas.microsoft.com/office/drawing/2014/main" id="{8F70FA65-87F9-FDD4-329F-0C9A5026B51C}"/>
              </a:ext>
            </a:extLst>
          </p:cNvPr>
          <p:cNvSpPr txBox="1"/>
          <p:nvPr/>
        </p:nvSpPr>
        <p:spPr>
          <a:xfrm>
            <a:off x="118965" y="1250302"/>
            <a:ext cx="5572708" cy="646331"/>
          </a:xfrm>
          <a:prstGeom prst="rect">
            <a:avLst/>
          </a:prstGeom>
          <a:noFill/>
        </p:spPr>
        <p:txBody>
          <a:bodyPr wrap="square">
            <a:spAutoFit/>
          </a:bodyPr>
          <a:lstStyle/>
          <a:p>
            <a:pPr>
              <a:buNone/>
            </a:pPr>
            <a:r>
              <a:rPr lang="en-IN" b="1" dirty="0"/>
              <a:t>📖 References</a:t>
            </a:r>
          </a:p>
          <a:p>
            <a:endParaRPr lang="en-IN" dirty="0"/>
          </a:p>
        </p:txBody>
      </p:sp>
      <p:sp>
        <p:nvSpPr>
          <p:cNvPr id="9" name="TextBox 8">
            <a:extLst>
              <a:ext uri="{FF2B5EF4-FFF2-40B4-BE49-F238E27FC236}">
                <a16:creationId xmlns:a16="http://schemas.microsoft.com/office/drawing/2014/main" id="{2C10193B-84E4-CAA6-A781-25B373E4CC49}"/>
              </a:ext>
            </a:extLst>
          </p:cNvPr>
          <p:cNvSpPr txBox="1"/>
          <p:nvPr/>
        </p:nvSpPr>
        <p:spPr>
          <a:xfrm>
            <a:off x="0" y="5476742"/>
            <a:ext cx="6097554" cy="646331"/>
          </a:xfrm>
          <a:prstGeom prst="rect">
            <a:avLst/>
          </a:prstGeom>
          <a:noFill/>
        </p:spPr>
        <p:txBody>
          <a:bodyPr wrap="square">
            <a:spAutoFit/>
          </a:bodyPr>
          <a:lstStyle/>
          <a:p>
            <a:r>
              <a:rPr lang="en-US" dirty="0"/>
              <a:t>🌐 Software Application / Website URL:</a:t>
            </a:r>
          </a:p>
          <a:p>
            <a:r>
              <a:rPr lang="en-IN" dirty="0"/>
              <a:t>https://aidiastermanagment.netlify.app/</a:t>
            </a:r>
          </a:p>
        </p:txBody>
      </p:sp>
      <p:sp>
        <p:nvSpPr>
          <p:cNvPr id="17" name="TextBox 16">
            <a:extLst>
              <a:ext uri="{FF2B5EF4-FFF2-40B4-BE49-F238E27FC236}">
                <a16:creationId xmlns:a16="http://schemas.microsoft.com/office/drawing/2014/main" id="{5C779C8B-D8A1-9E5F-71E9-6685DE27CCC6}"/>
              </a:ext>
            </a:extLst>
          </p:cNvPr>
          <p:cNvSpPr txBox="1"/>
          <p:nvPr/>
        </p:nvSpPr>
        <p:spPr>
          <a:xfrm>
            <a:off x="118965" y="1711967"/>
            <a:ext cx="6120880" cy="369332"/>
          </a:xfrm>
          <a:prstGeom prst="rect">
            <a:avLst/>
          </a:prstGeom>
          <a:noFill/>
        </p:spPr>
        <p:txBody>
          <a:bodyPr wrap="square">
            <a:spAutoFit/>
          </a:bodyPr>
          <a:lstStyle/>
          <a:p>
            <a:pPr>
              <a:buFont typeface="Arial" panose="020B0604020202020204" pitchFamily="34" charset="0"/>
              <a:buChar char="•"/>
            </a:pPr>
            <a:r>
              <a:rPr lang="en-IN" dirty="0"/>
              <a:t>Google AI Studio (Gemini API) </a:t>
            </a:r>
          </a:p>
        </p:txBody>
      </p:sp>
      <p:sp>
        <p:nvSpPr>
          <p:cNvPr id="19" name="TextBox 18">
            <a:extLst>
              <a:ext uri="{FF2B5EF4-FFF2-40B4-BE49-F238E27FC236}">
                <a16:creationId xmlns:a16="http://schemas.microsoft.com/office/drawing/2014/main" id="{697EE4F0-F826-0CDE-D69E-159675E8CB53}"/>
              </a:ext>
            </a:extLst>
          </p:cNvPr>
          <p:cNvSpPr txBox="1"/>
          <p:nvPr/>
        </p:nvSpPr>
        <p:spPr>
          <a:xfrm>
            <a:off x="118965" y="2265964"/>
            <a:ext cx="6120880" cy="369332"/>
          </a:xfrm>
          <a:prstGeom prst="rect">
            <a:avLst/>
          </a:prstGeom>
          <a:noFill/>
        </p:spPr>
        <p:txBody>
          <a:bodyPr wrap="square">
            <a:spAutoFit/>
          </a:bodyPr>
          <a:lstStyle/>
          <a:p>
            <a:pPr>
              <a:buFont typeface="Arial" panose="020B0604020202020204" pitchFamily="34" charset="0"/>
              <a:buChar char="•"/>
            </a:pPr>
            <a:r>
              <a:rPr lang="en-IN" dirty="0"/>
              <a:t>USGS Earthquake API (real-time data source used in logic) </a:t>
            </a:r>
          </a:p>
        </p:txBody>
      </p:sp>
      <p:sp>
        <p:nvSpPr>
          <p:cNvPr id="21" name="TextBox 20">
            <a:extLst>
              <a:ext uri="{FF2B5EF4-FFF2-40B4-BE49-F238E27FC236}">
                <a16:creationId xmlns:a16="http://schemas.microsoft.com/office/drawing/2014/main" id="{AFF83BB6-1490-9ACD-3B4A-7F8D85F71A79}"/>
              </a:ext>
            </a:extLst>
          </p:cNvPr>
          <p:cNvSpPr txBox="1"/>
          <p:nvPr/>
        </p:nvSpPr>
        <p:spPr>
          <a:xfrm>
            <a:off x="118965" y="2961796"/>
            <a:ext cx="6120880" cy="369332"/>
          </a:xfrm>
          <a:prstGeom prst="rect">
            <a:avLst/>
          </a:prstGeom>
          <a:noFill/>
        </p:spPr>
        <p:txBody>
          <a:bodyPr wrap="square">
            <a:spAutoFit/>
          </a:bodyPr>
          <a:lstStyle/>
          <a:p>
            <a:pPr>
              <a:buFont typeface="Arial" panose="020B0604020202020204" pitchFamily="34" charset="0"/>
              <a:buChar char="•"/>
            </a:pPr>
            <a:r>
              <a:rPr lang="en-IN" dirty="0"/>
              <a:t>Leaflet.js Documentation (map integration) </a:t>
            </a:r>
          </a:p>
        </p:txBody>
      </p:sp>
      <p:sp>
        <p:nvSpPr>
          <p:cNvPr id="23" name="TextBox 22">
            <a:extLst>
              <a:ext uri="{FF2B5EF4-FFF2-40B4-BE49-F238E27FC236}">
                <a16:creationId xmlns:a16="http://schemas.microsoft.com/office/drawing/2014/main" id="{45608DAA-1645-7FD1-FEC4-15CBBA906713}"/>
              </a:ext>
            </a:extLst>
          </p:cNvPr>
          <p:cNvSpPr txBox="1"/>
          <p:nvPr/>
        </p:nvSpPr>
        <p:spPr>
          <a:xfrm>
            <a:off x="118965" y="3472963"/>
            <a:ext cx="6120880" cy="369332"/>
          </a:xfrm>
          <a:prstGeom prst="rect">
            <a:avLst/>
          </a:prstGeom>
          <a:noFill/>
        </p:spPr>
        <p:txBody>
          <a:bodyPr wrap="square">
            <a:spAutoFit/>
          </a:bodyPr>
          <a:lstStyle/>
          <a:p>
            <a:pPr>
              <a:buFont typeface="Arial" panose="020B0604020202020204" pitchFamily="34" charset="0"/>
              <a:buChar char="•"/>
            </a:pPr>
            <a:r>
              <a:rPr lang="en-IN" dirty="0"/>
              <a:t>Node.js &amp; Express Documentation </a:t>
            </a:r>
          </a:p>
        </p:txBody>
      </p:sp>
      <p:sp>
        <p:nvSpPr>
          <p:cNvPr id="25" name="TextBox 24">
            <a:extLst>
              <a:ext uri="{FF2B5EF4-FFF2-40B4-BE49-F238E27FC236}">
                <a16:creationId xmlns:a16="http://schemas.microsoft.com/office/drawing/2014/main" id="{C1AEE080-7802-2316-A502-9DA85AB885A3}"/>
              </a:ext>
            </a:extLst>
          </p:cNvPr>
          <p:cNvSpPr txBox="1"/>
          <p:nvPr/>
        </p:nvSpPr>
        <p:spPr>
          <a:xfrm>
            <a:off x="118965" y="4055751"/>
            <a:ext cx="6120880" cy="369332"/>
          </a:xfrm>
          <a:prstGeom prst="rect">
            <a:avLst/>
          </a:prstGeom>
          <a:noFill/>
        </p:spPr>
        <p:txBody>
          <a:bodyPr wrap="square">
            <a:spAutoFit/>
          </a:bodyPr>
          <a:lstStyle/>
          <a:p>
            <a:pPr>
              <a:buFont typeface="Arial" panose="020B0604020202020204" pitchFamily="34" charset="0"/>
              <a:buChar char="•"/>
            </a:pPr>
            <a:r>
              <a:rPr lang="en-IN" dirty="0"/>
              <a:t>MDN Web Docs (HTML, CSS, JavaScript) </a:t>
            </a:r>
          </a:p>
        </p:txBody>
      </p:sp>
      <p:sp>
        <p:nvSpPr>
          <p:cNvPr id="27" name="TextBox 26">
            <a:extLst>
              <a:ext uri="{FF2B5EF4-FFF2-40B4-BE49-F238E27FC236}">
                <a16:creationId xmlns:a16="http://schemas.microsoft.com/office/drawing/2014/main" id="{291B74CC-95EC-24D8-B4EE-EB7492B0C9CD}"/>
              </a:ext>
            </a:extLst>
          </p:cNvPr>
          <p:cNvSpPr txBox="1"/>
          <p:nvPr/>
        </p:nvSpPr>
        <p:spPr>
          <a:xfrm>
            <a:off x="118965" y="4806106"/>
            <a:ext cx="6120880" cy="369332"/>
          </a:xfrm>
          <a:prstGeom prst="rect">
            <a:avLst/>
          </a:prstGeom>
          <a:noFill/>
        </p:spPr>
        <p:txBody>
          <a:bodyPr wrap="square">
            <a:spAutoFit/>
          </a:bodyPr>
          <a:lstStyle/>
          <a:p>
            <a:pPr>
              <a:buFont typeface="Arial" panose="020B0604020202020204" pitchFamily="34" charset="0"/>
              <a:buChar char="•"/>
            </a:pPr>
            <a:r>
              <a:rPr lang="en-IN" dirty="0"/>
              <a:t>GitHub (project inspiration &amp; resources)</a:t>
            </a:r>
          </a:p>
        </p:txBody>
      </p:sp>
    </p:spTree>
    <p:extLst>
      <p:ext uri="{BB962C8B-B14F-4D97-AF65-F5344CB8AC3E}">
        <p14:creationId xmlns:p14="http://schemas.microsoft.com/office/powerpoint/2010/main" val="2471510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9425EED5-9459-4460-8DBA-E6DB3A13201D}"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13</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0FD3C5C-8702-94B3-62DC-62040A4E0B66}"/>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BF8EE847-F1C0-46F6-467D-C4732C46394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45E6EB6-F140-AAB0-A0A9-405B64FF2239}"/>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SOURCE CODE: </a:t>
              </a:r>
            </a:p>
          </p:txBody>
        </p:sp>
      </p:grpSp>
      <p:pic>
        <p:nvPicPr>
          <p:cNvPr id="4" name="Picture 3">
            <a:extLst>
              <a:ext uri="{FF2B5EF4-FFF2-40B4-BE49-F238E27FC236}">
                <a16:creationId xmlns:a16="http://schemas.microsoft.com/office/drawing/2014/main" id="{497BBCFA-0D97-6F99-514A-7C645A1C4A12}"/>
              </a:ext>
            </a:extLst>
          </p:cNvPr>
          <p:cNvPicPr>
            <a:picLocks noChangeAspect="1"/>
          </p:cNvPicPr>
          <p:nvPr/>
        </p:nvPicPr>
        <p:blipFill>
          <a:blip r:embed="rId4"/>
          <a:stretch>
            <a:fillRect/>
          </a:stretch>
        </p:blipFill>
        <p:spPr>
          <a:xfrm>
            <a:off x="188514" y="1138335"/>
            <a:ext cx="12003486" cy="5218015"/>
          </a:xfrm>
          <a:prstGeom prst="rect">
            <a:avLst/>
          </a:prstGeom>
        </p:spPr>
      </p:pic>
    </p:spTree>
    <p:extLst>
      <p:ext uri="{BB962C8B-B14F-4D97-AF65-F5344CB8AC3E}">
        <p14:creationId xmlns:p14="http://schemas.microsoft.com/office/powerpoint/2010/main" val="277609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56DF-F298-958C-7363-D5C4C2596EB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83CCF8D-6DE5-8443-9633-BB0BA8D5600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04BB619-91DB-CB27-4EA2-24BBA4B68D53}"/>
              </a:ext>
            </a:extLst>
          </p:cNvPr>
          <p:cNvSpPr>
            <a:spLocks noGrp="1"/>
          </p:cNvSpPr>
          <p:nvPr>
            <p:ph type="dt" sz="half" idx="10"/>
          </p:nvPr>
        </p:nvSpPr>
        <p:spPr/>
        <p:txBody>
          <a:bodyPr/>
          <a:lstStyle/>
          <a:p>
            <a:fld id="{CB8D69A4-1EF2-4F1D-9576-1003C63ADFD4}" type="datetime1">
              <a:rPr lang="en-US" smtClean="0"/>
              <a:pPr/>
              <a:t>4/13/2026</a:t>
            </a:fld>
            <a:endParaRPr lang="en-US" dirty="0"/>
          </a:p>
        </p:txBody>
      </p:sp>
      <p:sp>
        <p:nvSpPr>
          <p:cNvPr id="15" name="Slide Number Placeholder 14">
            <a:extLst>
              <a:ext uri="{FF2B5EF4-FFF2-40B4-BE49-F238E27FC236}">
                <a16:creationId xmlns:a16="http://schemas.microsoft.com/office/drawing/2014/main" id="{8E84D0D7-7B74-DA68-BFA5-8CD3E43D38C5}"/>
              </a:ext>
            </a:extLst>
          </p:cNvPr>
          <p:cNvSpPr>
            <a:spLocks noGrp="1"/>
          </p:cNvSpPr>
          <p:nvPr>
            <p:ph type="sldNum" sz="quarter" idx="12"/>
          </p:nvPr>
        </p:nvSpPr>
        <p:spPr/>
        <p:txBody>
          <a:bodyPr/>
          <a:lstStyle/>
          <a:p>
            <a:fld id="{6EFE7C99-B088-4EBB-BFF6-BECCC96D5DD8}" type="slidenum">
              <a:rPr lang="en-US" smtClean="0"/>
              <a:pPr/>
              <a:t>14</a:t>
            </a:fld>
            <a:endParaRPr lang="en-US"/>
          </a:p>
        </p:txBody>
      </p:sp>
      <p:sp>
        <p:nvSpPr>
          <p:cNvPr id="10" name="TextBox 9">
            <a:extLst>
              <a:ext uri="{FF2B5EF4-FFF2-40B4-BE49-F238E27FC236}">
                <a16:creationId xmlns:a16="http://schemas.microsoft.com/office/drawing/2014/main" id="{A5223782-426F-53AA-88CF-F1D10EC5E59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sp>
        <p:nvSpPr>
          <p:cNvPr id="4" name="Rectangle 3">
            <a:extLst>
              <a:ext uri="{FF2B5EF4-FFF2-40B4-BE49-F238E27FC236}">
                <a16:creationId xmlns:a16="http://schemas.microsoft.com/office/drawing/2014/main" id="{3B37A90A-679A-B288-3DE2-8E5A624A1957}"/>
              </a:ext>
            </a:extLst>
          </p:cNvPr>
          <p:cNvSpPr/>
          <p:nvPr/>
        </p:nvSpPr>
        <p:spPr>
          <a:xfrm>
            <a:off x="690465" y="2100520"/>
            <a:ext cx="10571584" cy="3900196"/>
          </a:xfrm>
          <a:prstGeom prst="rect">
            <a:avLst/>
          </a:prstGeom>
          <a:effectLst>
            <a:glow rad="139700">
              <a:schemeClr val="accent3">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sz="9600" dirty="0"/>
              <a:t>THANK YOU </a:t>
            </a:r>
            <a:endParaRPr lang="en-IN" sz="9600" dirty="0"/>
          </a:p>
        </p:txBody>
      </p:sp>
    </p:spTree>
    <p:extLst>
      <p:ext uri="{BB962C8B-B14F-4D97-AF65-F5344CB8AC3E}">
        <p14:creationId xmlns:p14="http://schemas.microsoft.com/office/powerpoint/2010/main" val="954948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4223</TotalTime>
  <Words>1652</Words>
  <Application>Microsoft Office PowerPoint</Application>
  <PresentationFormat>Widescreen</PresentationFormat>
  <Paragraphs>224</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Arial Black</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Sujoy  Saha</dc:creator>
  <cp:lastModifiedBy>sathwik adepu</cp:lastModifiedBy>
  <cp:revision>92</cp:revision>
  <dcterms:created xsi:type="dcterms:W3CDTF">2025-01-02T14:33:31Z</dcterms:created>
  <dcterms:modified xsi:type="dcterms:W3CDTF">2026-04-13T06:12:00Z</dcterms:modified>
</cp:coreProperties>
</file>